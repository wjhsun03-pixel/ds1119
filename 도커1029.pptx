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57" r:id="rId9"/>
    <p:sldId id="258" r:id="rId10"/>
    <p:sldId id="259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1480E2-7592-4781-9676-D7F94FCF57E4}" type="doc">
      <dgm:prSet loTypeId="urn:microsoft.com/office/officeart/2005/8/layout/vList2" loCatId="list" qsTypeId="urn:microsoft.com/office/officeart/2005/8/quickstyle/simple3" qsCatId="simple" csTypeId="urn:microsoft.com/office/officeart/2005/8/colors/colorful4" csCatId="colorful"/>
      <dgm:spPr/>
      <dgm:t>
        <a:bodyPr/>
        <a:lstStyle/>
        <a:p>
          <a:pPr latinLnBrk="1"/>
          <a:endParaRPr lang="ko-KR" altLang="en-US"/>
        </a:p>
      </dgm:t>
    </dgm:pt>
    <dgm:pt modelId="{11291A45-B87B-4BF7-8BC6-A825B64DAB4E}">
      <dgm:prSet/>
      <dgm:spPr/>
      <dgm:t>
        <a:bodyPr/>
        <a:lstStyle/>
        <a:p>
          <a:pPr rtl="0" latinLnBrk="1"/>
          <a:r>
            <a:rPr lang="ko-KR" smtClean="0"/>
            <a:t>생성 </a:t>
          </a:r>
          <a:r>
            <a:rPr lang="en-US" smtClean="0"/>
            <a:t>: </a:t>
          </a:r>
          <a:r>
            <a:rPr lang="ko-KR" smtClean="0"/>
            <a:t>도커 이미지를 기반으로 새로운 컨테이너를 생성합니다</a:t>
          </a:r>
          <a:r>
            <a:rPr lang="en-US" smtClean="0"/>
            <a:t>.</a:t>
          </a:r>
          <a:endParaRPr lang="en-US"/>
        </a:p>
      </dgm:t>
    </dgm:pt>
    <dgm:pt modelId="{E38602B2-AA3A-46CB-9512-16BA10011FAB}" type="parTrans" cxnId="{2BAA75DA-EDCB-4DFA-B073-CA93C76C737F}">
      <dgm:prSet/>
      <dgm:spPr/>
      <dgm:t>
        <a:bodyPr/>
        <a:lstStyle/>
        <a:p>
          <a:pPr latinLnBrk="1"/>
          <a:endParaRPr lang="ko-KR" altLang="en-US"/>
        </a:p>
      </dgm:t>
    </dgm:pt>
    <dgm:pt modelId="{7B06041C-7AB1-4034-84D4-88964FBF3447}" type="sibTrans" cxnId="{2BAA75DA-EDCB-4DFA-B073-CA93C76C737F}">
      <dgm:prSet/>
      <dgm:spPr/>
      <dgm:t>
        <a:bodyPr/>
        <a:lstStyle/>
        <a:p>
          <a:pPr latinLnBrk="1"/>
          <a:endParaRPr lang="ko-KR" altLang="en-US"/>
        </a:p>
      </dgm:t>
    </dgm:pt>
    <dgm:pt modelId="{2D440E05-9CC6-40E8-82E9-7648072EAC32}">
      <dgm:prSet/>
      <dgm:spPr/>
      <dgm:t>
        <a:bodyPr/>
        <a:lstStyle/>
        <a:p>
          <a:pPr rtl="0" latinLnBrk="1"/>
          <a:r>
            <a:rPr lang="ko-KR" smtClean="0"/>
            <a:t>상태</a:t>
          </a:r>
          <a:r>
            <a:rPr lang="en-US" smtClean="0"/>
            <a:t>: </a:t>
          </a:r>
          <a:r>
            <a:rPr lang="ko-KR" smtClean="0"/>
            <a:t>이 단계에서는 컨테이너가 생성되지만 아직 실행되지는 않습니다</a:t>
          </a:r>
          <a:r>
            <a:rPr lang="en-US" smtClean="0"/>
            <a:t>.</a:t>
          </a:r>
          <a:endParaRPr lang="en-US"/>
        </a:p>
      </dgm:t>
    </dgm:pt>
    <dgm:pt modelId="{1E5B27A1-204A-434F-B1CD-B1DA41C576CB}" type="parTrans" cxnId="{546EBCF9-479A-461F-A42B-1349D1F9BA77}">
      <dgm:prSet/>
      <dgm:spPr/>
      <dgm:t>
        <a:bodyPr/>
        <a:lstStyle/>
        <a:p>
          <a:pPr latinLnBrk="1"/>
          <a:endParaRPr lang="ko-KR" altLang="en-US"/>
        </a:p>
      </dgm:t>
    </dgm:pt>
    <dgm:pt modelId="{960CF5F8-3EB3-4392-BACC-46A6D12DC2CB}" type="sibTrans" cxnId="{546EBCF9-479A-461F-A42B-1349D1F9BA77}">
      <dgm:prSet/>
      <dgm:spPr/>
      <dgm:t>
        <a:bodyPr/>
        <a:lstStyle/>
        <a:p>
          <a:pPr latinLnBrk="1"/>
          <a:endParaRPr lang="ko-KR" altLang="en-US"/>
        </a:p>
      </dgm:t>
    </dgm:pt>
    <dgm:pt modelId="{1ADC9783-CFB9-4ACB-A3D0-B436B0C4AF40}">
      <dgm:prSet/>
      <dgm:spPr/>
      <dgm:t>
        <a:bodyPr/>
        <a:lstStyle/>
        <a:p>
          <a:pPr rtl="0" latinLnBrk="1"/>
          <a:r>
            <a:rPr lang="ko-KR" smtClean="0"/>
            <a:t>명령어</a:t>
          </a:r>
          <a:r>
            <a:rPr lang="en-US" smtClean="0"/>
            <a:t>: docker create</a:t>
          </a:r>
          <a:endParaRPr lang="en-US"/>
        </a:p>
      </dgm:t>
    </dgm:pt>
    <dgm:pt modelId="{27F8C787-5B33-4860-A96D-C9370EB42224}" type="parTrans" cxnId="{8A965AD5-3C40-43FA-B0C7-3990C37DBBF1}">
      <dgm:prSet/>
      <dgm:spPr/>
      <dgm:t>
        <a:bodyPr/>
        <a:lstStyle/>
        <a:p>
          <a:pPr latinLnBrk="1"/>
          <a:endParaRPr lang="ko-KR" altLang="en-US"/>
        </a:p>
      </dgm:t>
    </dgm:pt>
    <dgm:pt modelId="{76FF5EC9-74C9-436F-92B6-F5B471EE1138}" type="sibTrans" cxnId="{8A965AD5-3C40-43FA-B0C7-3990C37DBBF1}">
      <dgm:prSet/>
      <dgm:spPr/>
      <dgm:t>
        <a:bodyPr/>
        <a:lstStyle/>
        <a:p>
          <a:pPr latinLnBrk="1"/>
          <a:endParaRPr lang="ko-KR" altLang="en-US"/>
        </a:p>
      </dgm:t>
    </dgm:pt>
    <dgm:pt modelId="{587944D9-2200-4283-86E2-22902DD76749}">
      <dgm:prSet/>
      <dgm:spPr/>
      <dgm:t>
        <a:bodyPr/>
        <a:lstStyle/>
        <a:p>
          <a:pPr rtl="0" latinLnBrk="1"/>
          <a:r>
            <a:rPr lang="ko-KR" smtClean="0"/>
            <a:t>실행 </a:t>
          </a:r>
          <a:r>
            <a:rPr lang="en-US" smtClean="0"/>
            <a:t>: </a:t>
          </a:r>
          <a:r>
            <a:rPr lang="ko-KR" smtClean="0"/>
            <a:t>생성된 컨테이너를 시작하고 실행합니다</a:t>
          </a:r>
          <a:r>
            <a:rPr lang="en-US" smtClean="0"/>
            <a:t>.</a:t>
          </a:r>
          <a:endParaRPr lang="en-US"/>
        </a:p>
      </dgm:t>
    </dgm:pt>
    <dgm:pt modelId="{904EA8E3-16CD-4D62-BBAF-1FB3C10333BB}" type="parTrans" cxnId="{2F3DC27D-FDFC-4432-9C59-DE93AD0881EF}">
      <dgm:prSet/>
      <dgm:spPr/>
      <dgm:t>
        <a:bodyPr/>
        <a:lstStyle/>
        <a:p>
          <a:pPr latinLnBrk="1"/>
          <a:endParaRPr lang="ko-KR" altLang="en-US"/>
        </a:p>
      </dgm:t>
    </dgm:pt>
    <dgm:pt modelId="{EA081D6B-5BD1-40AE-9CFE-11635F7B149B}" type="sibTrans" cxnId="{2F3DC27D-FDFC-4432-9C59-DE93AD0881EF}">
      <dgm:prSet/>
      <dgm:spPr/>
      <dgm:t>
        <a:bodyPr/>
        <a:lstStyle/>
        <a:p>
          <a:pPr latinLnBrk="1"/>
          <a:endParaRPr lang="ko-KR" altLang="en-US"/>
        </a:p>
      </dgm:t>
    </dgm:pt>
    <dgm:pt modelId="{B88877EF-8C61-4CB2-9390-A2C9C5A8E957}">
      <dgm:prSet/>
      <dgm:spPr/>
      <dgm:t>
        <a:bodyPr/>
        <a:lstStyle/>
        <a:p>
          <a:pPr rtl="0" latinLnBrk="1"/>
          <a:r>
            <a:rPr lang="ko-KR" smtClean="0"/>
            <a:t>상태</a:t>
          </a:r>
          <a:r>
            <a:rPr lang="en-US" smtClean="0"/>
            <a:t>: </a:t>
          </a:r>
          <a:r>
            <a:rPr lang="ko-KR" smtClean="0"/>
            <a:t>컨테이너 내부의 애플리케이션이 동작하기 시작합니다</a:t>
          </a:r>
          <a:r>
            <a:rPr lang="en-US" smtClean="0"/>
            <a:t>.</a:t>
          </a:r>
          <a:endParaRPr lang="en-US"/>
        </a:p>
      </dgm:t>
    </dgm:pt>
    <dgm:pt modelId="{E859B99D-F763-4A0F-B6AF-1BA9D51A2E11}" type="parTrans" cxnId="{574A7A06-E240-43E6-962E-57301370C042}">
      <dgm:prSet/>
      <dgm:spPr/>
      <dgm:t>
        <a:bodyPr/>
        <a:lstStyle/>
        <a:p>
          <a:pPr latinLnBrk="1"/>
          <a:endParaRPr lang="ko-KR" altLang="en-US"/>
        </a:p>
      </dgm:t>
    </dgm:pt>
    <dgm:pt modelId="{4A3CF9DB-4571-47F5-89B1-BF3FCAF0A3CC}" type="sibTrans" cxnId="{574A7A06-E240-43E6-962E-57301370C042}">
      <dgm:prSet/>
      <dgm:spPr/>
      <dgm:t>
        <a:bodyPr/>
        <a:lstStyle/>
        <a:p>
          <a:pPr latinLnBrk="1"/>
          <a:endParaRPr lang="ko-KR" altLang="en-US"/>
        </a:p>
      </dgm:t>
    </dgm:pt>
    <dgm:pt modelId="{25B508E1-AAA6-44D9-BF9B-A7253039F318}">
      <dgm:prSet/>
      <dgm:spPr/>
      <dgm:t>
        <a:bodyPr/>
        <a:lstStyle/>
        <a:p>
          <a:pPr rtl="0" latinLnBrk="1"/>
          <a:r>
            <a:rPr lang="ko-KR" smtClean="0"/>
            <a:t>명령어</a:t>
          </a:r>
          <a:r>
            <a:rPr lang="en-US" smtClean="0"/>
            <a:t>: docker start </a:t>
          </a:r>
          <a:r>
            <a:rPr lang="ko-KR" smtClean="0"/>
            <a:t>또는 </a:t>
          </a:r>
          <a:r>
            <a:rPr lang="en-US" smtClean="0"/>
            <a:t>docker run (docker run</a:t>
          </a:r>
          <a:r>
            <a:rPr lang="ko-KR" smtClean="0"/>
            <a:t>은 </a:t>
          </a:r>
          <a:r>
            <a:rPr lang="en-US" smtClean="0"/>
            <a:t>create</a:t>
          </a:r>
          <a:r>
            <a:rPr lang="ko-KR" smtClean="0"/>
            <a:t>와 </a:t>
          </a:r>
          <a:r>
            <a:rPr lang="en-US" smtClean="0"/>
            <a:t>start</a:t>
          </a:r>
          <a:r>
            <a:rPr lang="ko-KR" smtClean="0"/>
            <a:t>를 합친 명령</a:t>
          </a:r>
          <a:r>
            <a:rPr lang="en-US" smtClean="0"/>
            <a:t>)</a:t>
          </a:r>
          <a:endParaRPr lang="en-US"/>
        </a:p>
      </dgm:t>
    </dgm:pt>
    <dgm:pt modelId="{EA04E6CB-E55E-415B-8DB2-1AE70ED2BBBC}" type="parTrans" cxnId="{15215907-A1D3-4E5F-AEA9-908EFC51BAEF}">
      <dgm:prSet/>
      <dgm:spPr/>
      <dgm:t>
        <a:bodyPr/>
        <a:lstStyle/>
        <a:p>
          <a:pPr latinLnBrk="1"/>
          <a:endParaRPr lang="ko-KR" altLang="en-US"/>
        </a:p>
      </dgm:t>
    </dgm:pt>
    <dgm:pt modelId="{590C8D4B-0620-4180-82F1-7927DD61F52F}" type="sibTrans" cxnId="{15215907-A1D3-4E5F-AEA9-908EFC51BAEF}">
      <dgm:prSet/>
      <dgm:spPr/>
      <dgm:t>
        <a:bodyPr/>
        <a:lstStyle/>
        <a:p>
          <a:pPr latinLnBrk="1"/>
          <a:endParaRPr lang="ko-KR" altLang="en-US"/>
        </a:p>
      </dgm:t>
    </dgm:pt>
    <dgm:pt modelId="{56A4F758-B22D-4586-8DB9-50CE1AACF684}">
      <dgm:prSet/>
      <dgm:spPr/>
      <dgm:t>
        <a:bodyPr/>
        <a:lstStyle/>
        <a:p>
          <a:pPr rtl="0" latinLnBrk="1"/>
          <a:r>
            <a:rPr lang="ko-KR" smtClean="0"/>
            <a:t>일시중지 </a:t>
          </a:r>
          <a:r>
            <a:rPr lang="en-US" smtClean="0"/>
            <a:t>: </a:t>
          </a:r>
          <a:r>
            <a:rPr lang="ko-KR" smtClean="0"/>
            <a:t>실행 중인 컨테이너를 일시적으로 중지시킵니다</a:t>
          </a:r>
          <a:r>
            <a:rPr lang="en-US" smtClean="0"/>
            <a:t>.</a:t>
          </a:r>
          <a:endParaRPr lang="en-US"/>
        </a:p>
      </dgm:t>
    </dgm:pt>
    <dgm:pt modelId="{8CCB0DB2-2506-4E90-B073-0EC2D6A481E0}" type="parTrans" cxnId="{42982621-2132-43ED-9AE9-E399C22F2AE5}">
      <dgm:prSet/>
      <dgm:spPr/>
      <dgm:t>
        <a:bodyPr/>
        <a:lstStyle/>
        <a:p>
          <a:pPr latinLnBrk="1"/>
          <a:endParaRPr lang="ko-KR" altLang="en-US"/>
        </a:p>
      </dgm:t>
    </dgm:pt>
    <dgm:pt modelId="{4ABE62F0-C82C-4C09-AB91-A61718AB52E6}" type="sibTrans" cxnId="{42982621-2132-43ED-9AE9-E399C22F2AE5}">
      <dgm:prSet/>
      <dgm:spPr/>
      <dgm:t>
        <a:bodyPr/>
        <a:lstStyle/>
        <a:p>
          <a:pPr latinLnBrk="1"/>
          <a:endParaRPr lang="ko-KR" altLang="en-US"/>
        </a:p>
      </dgm:t>
    </dgm:pt>
    <dgm:pt modelId="{B131FD6F-9F90-49B9-9295-C975D293A7CC}">
      <dgm:prSet/>
      <dgm:spPr/>
      <dgm:t>
        <a:bodyPr/>
        <a:lstStyle/>
        <a:p>
          <a:pPr rtl="0" latinLnBrk="1"/>
          <a:r>
            <a:rPr lang="ko-KR" smtClean="0"/>
            <a:t>상태</a:t>
          </a:r>
          <a:r>
            <a:rPr lang="en-US" smtClean="0"/>
            <a:t>: </a:t>
          </a:r>
          <a:r>
            <a:rPr lang="ko-KR" smtClean="0"/>
            <a:t>컨테이너의 상태는 유지되지만</a:t>
          </a:r>
          <a:r>
            <a:rPr lang="en-US" smtClean="0"/>
            <a:t>, </a:t>
          </a:r>
          <a:r>
            <a:rPr lang="ko-KR" smtClean="0"/>
            <a:t>프로세스 실행은 멈춥니다</a:t>
          </a:r>
          <a:r>
            <a:rPr lang="en-US" smtClean="0"/>
            <a:t>.</a:t>
          </a:r>
          <a:endParaRPr lang="en-US"/>
        </a:p>
      </dgm:t>
    </dgm:pt>
    <dgm:pt modelId="{FE63A277-AD57-4240-9091-B33008EDC0C0}" type="parTrans" cxnId="{C9D51DA9-8803-4A01-87C2-442932D35163}">
      <dgm:prSet/>
      <dgm:spPr/>
      <dgm:t>
        <a:bodyPr/>
        <a:lstStyle/>
        <a:p>
          <a:pPr latinLnBrk="1"/>
          <a:endParaRPr lang="ko-KR" altLang="en-US"/>
        </a:p>
      </dgm:t>
    </dgm:pt>
    <dgm:pt modelId="{2119DE89-30EC-4376-98E1-BE3859310483}" type="sibTrans" cxnId="{C9D51DA9-8803-4A01-87C2-442932D35163}">
      <dgm:prSet/>
      <dgm:spPr/>
      <dgm:t>
        <a:bodyPr/>
        <a:lstStyle/>
        <a:p>
          <a:pPr latinLnBrk="1"/>
          <a:endParaRPr lang="ko-KR" altLang="en-US"/>
        </a:p>
      </dgm:t>
    </dgm:pt>
    <dgm:pt modelId="{FCF28CF7-97C7-493D-AA20-1C8FD359C1F9}">
      <dgm:prSet/>
      <dgm:spPr/>
      <dgm:t>
        <a:bodyPr/>
        <a:lstStyle/>
        <a:p>
          <a:pPr rtl="0" latinLnBrk="1"/>
          <a:r>
            <a:rPr lang="ko-KR" smtClean="0"/>
            <a:t>명령어</a:t>
          </a:r>
          <a:r>
            <a:rPr lang="en-US" smtClean="0"/>
            <a:t>: docker pause</a:t>
          </a:r>
          <a:endParaRPr lang="en-US"/>
        </a:p>
      </dgm:t>
    </dgm:pt>
    <dgm:pt modelId="{A845E0F3-5767-47A5-A5E5-B023A569A35D}" type="parTrans" cxnId="{CC866135-9464-4E7A-BDEA-481276485F5D}">
      <dgm:prSet/>
      <dgm:spPr/>
      <dgm:t>
        <a:bodyPr/>
        <a:lstStyle/>
        <a:p>
          <a:pPr latinLnBrk="1"/>
          <a:endParaRPr lang="ko-KR" altLang="en-US"/>
        </a:p>
      </dgm:t>
    </dgm:pt>
    <dgm:pt modelId="{CCDCADB2-5047-4BE5-BAAE-04C2825E5A70}" type="sibTrans" cxnId="{CC866135-9464-4E7A-BDEA-481276485F5D}">
      <dgm:prSet/>
      <dgm:spPr/>
      <dgm:t>
        <a:bodyPr/>
        <a:lstStyle/>
        <a:p>
          <a:pPr latinLnBrk="1"/>
          <a:endParaRPr lang="ko-KR" altLang="en-US"/>
        </a:p>
      </dgm:t>
    </dgm:pt>
    <dgm:pt modelId="{C766DECF-AF54-4B5D-8FEB-2155F214820D}">
      <dgm:prSet/>
      <dgm:spPr/>
      <dgm:t>
        <a:bodyPr/>
        <a:lstStyle/>
        <a:p>
          <a:pPr rtl="0" latinLnBrk="1"/>
          <a:r>
            <a:rPr lang="ko-KR" smtClean="0"/>
            <a:t>재개 </a:t>
          </a:r>
          <a:r>
            <a:rPr lang="en-US" smtClean="0"/>
            <a:t>: </a:t>
          </a:r>
          <a:r>
            <a:rPr lang="ko-KR" smtClean="0"/>
            <a:t>일시 중지된 컨테이너를 다시 실행 상태로 되돌립니다</a:t>
          </a:r>
          <a:r>
            <a:rPr lang="en-US" smtClean="0"/>
            <a:t>.</a:t>
          </a:r>
          <a:endParaRPr lang="en-US"/>
        </a:p>
      </dgm:t>
    </dgm:pt>
    <dgm:pt modelId="{F588EE37-C800-4E0B-9F07-6127B0D2E35B}" type="parTrans" cxnId="{6472CE30-1F17-4216-B2C8-22A1294599FE}">
      <dgm:prSet/>
      <dgm:spPr/>
      <dgm:t>
        <a:bodyPr/>
        <a:lstStyle/>
        <a:p>
          <a:pPr latinLnBrk="1"/>
          <a:endParaRPr lang="ko-KR" altLang="en-US"/>
        </a:p>
      </dgm:t>
    </dgm:pt>
    <dgm:pt modelId="{059063FB-D016-4417-9927-FC86F7F87E6C}" type="sibTrans" cxnId="{6472CE30-1F17-4216-B2C8-22A1294599FE}">
      <dgm:prSet/>
      <dgm:spPr/>
      <dgm:t>
        <a:bodyPr/>
        <a:lstStyle/>
        <a:p>
          <a:pPr latinLnBrk="1"/>
          <a:endParaRPr lang="ko-KR" altLang="en-US"/>
        </a:p>
      </dgm:t>
    </dgm:pt>
    <dgm:pt modelId="{0584C5AA-3203-46D5-B898-871BEBA9B2AB}">
      <dgm:prSet/>
      <dgm:spPr/>
      <dgm:t>
        <a:bodyPr/>
        <a:lstStyle/>
        <a:p>
          <a:pPr rtl="0" latinLnBrk="1"/>
          <a:r>
            <a:rPr lang="ko-KR" smtClean="0"/>
            <a:t>명령어</a:t>
          </a:r>
          <a:r>
            <a:rPr lang="en-US" smtClean="0"/>
            <a:t>: docker unpause</a:t>
          </a:r>
          <a:endParaRPr lang="en-US"/>
        </a:p>
      </dgm:t>
    </dgm:pt>
    <dgm:pt modelId="{43432A89-BEB7-46D1-88D2-B9B430C8733F}" type="parTrans" cxnId="{28B6CAF8-EF82-4BEE-8426-4510C2085461}">
      <dgm:prSet/>
      <dgm:spPr/>
      <dgm:t>
        <a:bodyPr/>
        <a:lstStyle/>
        <a:p>
          <a:pPr latinLnBrk="1"/>
          <a:endParaRPr lang="ko-KR" altLang="en-US"/>
        </a:p>
      </dgm:t>
    </dgm:pt>
    <dgm:pt modelId="{124B5FAA-BA9A-4889-919D-C6E7176FE106}" type="sibTrans" cxnId="{28B6CAF8-EF82-4BEE-8426-4510C2085461}">
      <dgm:prSet/>
      <dgm:spPr/>
      <dgm:t>
        <a:bodyPr/>
        <a:lstStyle/>
        <a:p>
          <a:pPr latinLnBrk="1"/>
          <a:endParaRPr lang="ko-KR" altLang="en-US"/>
        </a:p>
      </dgm:t>
    </dgm:pt>
    <dgm:pt modelId="{F4E6395A-FBCE-49CF-9C34-A49CC5538C86}">
      <dgm:prSet/>
      <dgm:spPr/>
      <dgm:t>
        <a:bodyPr/>
        <a:lstStyle/>
        <a:p>
          <a:pPr rtl="0" latinLnBrk="1"/>
          <a:r>
            <a:rPr lang="ko-KR" smtClean="0"/>
            <a:t>중지 </a:t>
          </a:r>
          <a:r>
            <a:rPr lang="en-US" smtClean="0"/>
            <a:t>: </a:t>
          </a:r>
          <a:r>
            <a:rPr lang="ko-KR" smtClean="0"/>
            <a:t>실행 중인 컨테이너를 완전히 중지시킵니다</a:t>
          </a:r>
          <a:r>
            <a:rPr lang="en-US" smtClean="0"/>
            <a:t>.</a:t>
          </a:r>
          <a:endParaRPr lang="en-US"/>
        </a:p>
      </dgm:t>
    </dgm:pt>
    <dgm:pt modelId="{BD673777-6B31-46F5-AD13-7C1883236722}" type="parTrans" cxnId="{15E47597-F7E6-485B-B467-D6255E19CE88}">
      <dgm:prSet/>
      <dgm:spPr/>
      <dgm:t>
        <a:bodyPr/>
        <a:lstStyle/>
        <a:p>
          <a:pPr latinLnBrk="1"/>
          <a:endParaRPr lang="ko-KR" altLang="en-US"/>
        </a:p>
      </dgm:t>
    </dgm:pt>
    <dgm:pt modelId="{618C3A88-56F7-4FE8-8F1C-87EAB497A5BC}" type="sibTrans" cxnId="{15E47597-F7E6-485B-B467-D6255E19CE88}">
      <dgm:prSet/>
      <dgm:spPr/>
      <dgm:t>
        <a:bodyPr/>
        <a:lstStyle/>
        <a:p>
          <a:pPr latinLnBrk="1"/>
          <a:endParaRPr lang="ko-KR" altLang="en-US"/>
        </a:p>
      </dgm:t>
    </dgm:pt>
    <dgm:pt modelId="{A1E0C7C3-6EC8-463A-8F3D-C96696CCB94D}">
      <dgm:prSet/>
      <dgm:spPr/>
      <dgm:t>
        <a:bodyPr/>
        <a:lstStyle/>
        <a:p>
          <a:pPr rtl="0" latinLnBrk="1"/>
          <a:r>
            <a:rPr lang="ko-KR" smtClean="0"/>
            <a:t>상태</a:t>
          </a:r>
          <a:r>
            <a:rPr lang="en-US" smtClean="0"/>
            <a:t>: </a:t>
          </a:r>
          <a:r>
            <a:rPr lang="ko-KR" smtClean="0"/>
            <a:t>컨테이너의 상태는 저장되지만</a:t>
          </a:r>
          <a:r>
            <a:rPr lang="en-US" smtClean="0"/>
            <a:t>, </a:t>
          </a:r>
          <a:r>
            <a:rPr lang="ko-KR" smtClean="0"/>
            <a:t>실행은 완전히 멈춥니다</a:t>
          </a:r>
          <a:r>
            <a:rPr lang="en-US" smtClean="0"/>
            <a:t>.</a:t>
          </a:r>
          <a:endParaRPr lang="en-US"/>
        </a:p>
      </dgm:t>
    </dgm:pt>
    <dgm:pt modelId="{E3AF3C58-1940-4016-9F12-FAE8ECD2B793}" type="parTrans" cxnId="{A1419EB8-1BD4-4747-8A40-6F5A69FCF06E}">
      <dgm:prSet/>
      <dgm:spPr/>
      <dgm:t>
        <a:bodyPr/>
        <a:lstStyle/>
        <a:p>
          <a:pPr latinLnBrk="1"/>
          <a:endParaRPr lang="ko-KR" altLang="en-US"/>
        </a:p>
      </dgm:t>
    </dgm:pt>
    <dgm:pt modelId="{7DD7EB56-51AC-4BBC-8567-4AE96B7244CF}" type="sibTrans" cxnId="{A1419EB8-1BD4-4747-8A40-6F5A69FCF06E}">
      <dgm:prSet/>
      <dgm:spPr/>
      <dgm:t>
        <a:bodyPr/>
        <a:lstStyle/>
        <a:p>
          <a:pPr latinLnBrk="1"/>
          <a:endParaRPr lang="ko-KR" altLang="en-US"/>
        </a:p>
      </dgm:t>
    </dgm:pt>
    <dgm:pt modelId="{22E80C79-C302-42D4-A24C-288D106E1EFD}">
      <dgm:prSet/>
      <dgm:spPr/>
      <dgm:t>
        <a:bodyPr/>
        <a:lstStyle/>
        <a:p>
          <a:pPr rtl="0" latinLnBrk="1"/>
          <a:r>
            <a:rPr lang="ko-KR" smtClean="0"/>
            <a:t>명령어</a:t>
          </a:r>
          <a:r>
            <a:rPr lang="en-US" smtClean="0"/>
            <a:t>: docker stop</a:t>
          </a:r>
          <a:endParaRPr lang="en-US"/>
        </a:p>
      </dgm:t>
    </dgm:pt>
    <dgm:pt modelId="{5553A592-4FE0-4B83-B862-5A8E693BB251}" type="parTrans" cxnId="{388A7638-E149-4CFA-8A2D-3C61D88E9029}">
      <dgm:prSet/>
      <dgm:spPr/>
      <dgm:t>
        <a:bodyPr/>
        <a:lstStyle/>
        <a:p>
          <a:pPr latinLnBrk="1"/>
          <a:endParaRPr lang="ko-KR" altLang="en-US"/>
        </a:p>
      </dgm:t>
    </dgm:pt>
    <dgm:pt modelId="{76235AC2-EB60-41EF-9071-909E32BEB4A2}" type="sibTrans" cxnId="{388A7638-E149-4CFA-8A2D-3C61D88E9029}">
      <dgm:prSet/>
      <dgm:spPr/>
      <dgm:t>
        <a:bodyPr/>
        <a:lstStyle/>
        <a:p>
          <a:pPr latinLnBrk="1"/>
          <a:endParaRPr lang="ko-KR" altLang="en-US"/>
        </a:p>
      </dgm:t>
    </dgm:pt>
    <dgm:pt modelId="{1E4EB86D-09A9-466D-AA26-00934DA84B5D}">
      <dgm:prSet/>
      <dgm:spPr/>
      <dgm:t>
        <a:bodyPr/>
        <a:lstStyle/>
        <a:p>
          <a:pPr rtl="0" latinLnBrk="1"/>
          <a:r>
            <a:rPr lang="ko-KR" smtClean="0"/>
            <a:t>재시작 </a:t>
          </a:r>
          <a:r>
            <a:rPr lang="en-US" smtClean="0"/>
            <a:t>: </a:t>
          </a:r>
          <a:r>
            <a:rPr lang="ko-KR" smtClean="0"/>
            <a:t>중지된 컨테이너를 다시 시작합니다</a:t>
          </a:r>
          <a:r>
            <a:rPr lang="en-US" smtClean="0"/>
            <a:t>. </a:t>
          </a:r>
          <a:r>
            <a:rPr lang="ko-KR" smtClean="0"/>
            <a:t>또는 실행 중인 컨테이너를 중지하고 다시 시작합니다</a:t>
          </a:r>
          <a:r>
            <a:rPr lang="en-US" smtClean="0"/>
            <a:t>.</a:t>
          </a:r>
          <a:endParaRPr lang="en-US"/>
        </a:p>
      </dgm:t>
    </dgm:pt>
    <dgm:pt modelId="{ADCD80EB-4984-47ED-A7F9-7124A49E07DF}" type="parTrans" cxnId="{FCD242D9-8BF4-4083-88DA-57442DA11B05}">
      <dgm:prSet/>
      <dgm:spPr/>
      <dgm:t>
        <a:bodyPr/>
        <a:lstStyle/>
        <a:p>
          <a:pPr latinLnBrk="1"/>
          <a:endParaRPr lang="ko-KR" altLang="en-US"/>
        </a:p>
      </dgm:t>
    </dgm:pt>
    <dgm:pt modelId="{59547676-F435-49F9-98CD-A2642E3C25C9}" type="sibTrans" cxnId="{FCD242D9-8BF4-4083-88DA-57442DA11B05}">
      <dgm:prSet/>
      <dgm:spPr/>
      <dgm:t>
        <a:bodyPr/>
        <a:lstStyle/>
        <a:p>
          <a:pPr latinLnBrk="1"/>
          <a:endParaRPr lang="ko-KR" altLang="en-US"/>
        </a:p>
      </dgm:t>
    </dgm:pt>
    <dgm:pt modelId="{62BA8586-F4CA-4E21-898B-F4C54D9E4C77}">
      <dgm:prSet/>
      <dgm:spPr/>
      <dgm:t>
        <a:bodyPr/>
        <a:lstStyle/>
        <a:p>
          <a:pPr rtl="0" latinLnBrk="1"/>
          <a:r>
            <a:rPr lang="ko-KR" smtClean="0"/>
            <a:t>명령어</a:t>
          </a:r>
          <a:r>
            <a:rPr lang="en-US" smtClean="0"/>
            <a:t>: docker restart</a:t>
          </a:r>
          <a:endParaRPr lang="en-US"/>
        </a:p>
      </dgm:t>
    </dgm:pt>
    <dgm:pt modelId="{1CB3A14C-ED84-4B38-A4C8-5DEA609F94D1}" type="parTrans" cxnId="{E0F00ECF-E114-4E2F-BC71-C6A765E489D2}">
      <dgm:prSet/>
      <dgm:spPr/>
      <dgm:t>
        <a:bodyPr/>
        <a:lstStyle/>
        <a:p>
          <a:pPr latinLnBrk="1"/>
          <a:endParaRPr lang="ko-KR" altLang="en-US"/>
        </a:p>
      </dgm:t>
    </dgm:pt>
    <dgm:pt modelId="{E54D0628-54BD-4682-B417-A3785CF0FD71}" type="sibTrans" cxnId="{E0F00ECF-E114-4E2F-BC71-C6A765E489D2}">
      <dgm:prSet/>
      <dgm:spPr/>
      <dgm:t>
        <a:bodyPr/>
        <a:lstStyle/>
        <a:p>
          <a:pPr latinLnBrk="1"/>
          <a:endParaRPr lang="ko-KR" altLang="en-US"/>
        </a:p>
      </dgm:t>
    </dgm:pt>
    <dgm:pt modelId="{D50B2702-2D02-4B53-8F7E-26405B876115}">
      <dgm:prSet/>
      <dgm:spPr/>
      <dgm:t>
        <a:bodyPr/>
        <a:lstStyle/>
        <a:p>
          <a:pPr rtl="0" latinLnBrk="1"/>
          <a:r>
            <a:rPr lang="ko-KR" smtClean="0"/>
            <a:t>삭제 </a:t>
          </a:r>
          <a:r>
            <a:rPr lang="en-US" smtClean="0"/>
            <a:t>: </a:t>
          </a:r>
          <a:r>
            <a:rPr lang="ko-KR" smtClean="0"/>
            <a:t>중지된 컨테이너를 완전히 시스템에서 제거합니다</a:t>
          </a:r>
          <a:r>
            <a:rPr lang="en-US" smtClean="0"/>
            <a:t>.</a:t>
          </a:r>
          <a:endParaRPr lang="en-US"/>
        </a:p>
      </dgm:t>
    </dgm:pt>
    <dgm:pt modelId="{487F08F8-CB1A-489D-AF5E-17C514498894}" type="parTrans" cxnId="{0360588D-4411-4DDF-A110-B94636CA749B}">
      <dgm:prSet/>
      <dgm:spPr/>
      <dgm:t>
        <a:bodyPr/>
        <a:lstStyle/>
        <a:p>
          <a:pPr latinLnBrk="1"/>
          <a:endParaRPr lang="ko-KR" altLang="en-US"/>
        </a:p>
      </dgm:t>
    </dgm:pt>
    <dgm:pt modelId="{7B43287D-A452-4833-A982-7C45C59CDDDB}" type="sibTrans" cxnId="{0360588D-4411-4DDF-A110-B94636CA749B}">
      <dgm:prSet/>
      <dgm:spPr/>
      <dgm:t>
        <a:bodyPr/>
        <a:lstStyle/>
        <a:p>
          <a:pPr latinLnBrk="1"/>
          <a:endParaRPr lang="ko-KR" altLang="en-US"/>
        </a:p>
      </dgm:t>
    </dgm:pt>
    <dgm:pt modelId="{AC68A64E-286C-4E30-8071-8DCFA5069E0F}">
      <dgm:prSet/>
      <dgm:spPr/>
      <dgm:t>
        <a:bodyPr/>
        <a:lstStyle/>
        <a:p>
          <a:pPr rtl="0" latinLnBrk="1"/>
          <a:r>
            <a:rPr lang="ko-KR" smtClean="0"/>
            <a:t>명령어</a:t>
          </a:r>
          <a:r>
            <a:rPr lang="en-US" smtClean="0"/>
            <a:t>: docker rm</a:t>
          </a:r>
          <a:endParaRPr lang="en-US"/>
        </a:p>
      </dgm:t>
    </dgm:pt>
    <dgm:pt modelId="{1DCD8AD2-1628-4EF0-9249-0CEF41E5A205}" type="parTrans" cxnId="{D1CD1017-B628-4EAB-A7E3-DBA550BC320F}">
      <dgm:prSet/>
      <dgm:spPr/>
      <dgm:t>
        <a:bodyPr/>
        <a:lstStyle/>
        <a:p>
          <a:pPr latinLnBrk="1"/>
          <a:endParaRPr lang="ko-KR" altLang="en-US"/>
        </a:p>
      </dgm:t>
    </dgm:pt>
    <dgm:pt modelId="{A05592E6-34B1-42FC-B260-E427E441EB81}" type="sibTrans" cxnId="{D1CD1017-B628-4EAB-A7E3-DBA550BC320F}">
      <dgm:prSet/>
      <dgm:spPr/>
      <dgm:t>
        <a:bodyPr/>
        <a:lstStyle/>
        <a:p>
          <a:pPr latinLnBrk="1"/>
          <a:endParaRPr lang="ko-KR" altLang="en-US"/>
        </a:p>
      </dgm:t>
    </dgm:pt>
    <dgm:pt modelId="{176FC112-C776-401E-BAF0-40BB0C06217D}">
      <dgm:prSet/>
      <dgm:spPr/>
      <dgm:t>
        <a:bodyPr/>
        <a:lstStyle/>
        <a:p>
          <a:pPr rtl="0" latinLnBrk="1"/>
          <a:r>
            <a:rPr lang="ko-KR" smtClean="0"/>
            <a:t>참고</a:t>
          </a:r>
          <a:r>
            <a:rPr lang="en-US" smtClean="0"/>
            <a:t>: </a:t>
          </a:r>
          <a:r>
            <a:rPr lang="ko-KR" smtClean="0"/>
            <a:t>실행 중인 컨테이너는 강제로 중지하고 삭제할 수 있습니다 </a:t>
          </a:r>
          <a:r>
            <a:rPr lang="en-US" smtClean="0"/>
            <a:t>(-f </a:t>
          </a:r>
          <a:r>
            <a:rPr lang="ko-KR" smtClean="0"/>
            <a:t>옵션 사용</a:t>
          </a:r>
          <a:r>
            <a:rPr lang="en-US" smtClean="0"/>
            <a:t>).</a:t>
          </a:r>
          <a:endParaRPr lang="en-US"/>
        </a:p>
      </dgm:t>
    </dgm:pt>
    <dgm:pt modelId="{341CFCAC-277B-49F2-AECD-4B7FA80DBCF8}" type="parTrans" cxnId="{3CEABB48-B060-4DFF-83DD-9EFCB56F49A8}">
      <dgm:prSet/>
      <dgm:spPr/>
      <dgm:t>
        <a:bodyPr/>
        <a:lstStyle/>
        <a:p>
          <a:pPr latinLnBrk="1"/>
          <a:endParaRPr lang="ko-KR" altLang="en-US"/>
        </a:p>
      </dgm:t>
    </dgm:pt>
    <dgm:pt modelId="{A00F8972-5064-4E3A-8671-CF19CDBB217D}" type="sibTrans" cxnId="{3CEABB48-B060-4DFF-83DD-9EFCB56F49A8}">
      <dgm:prSet/>
      <dgm:spPr/>
      <dgm:t>
        <a:bodyPr/>
        <a:lstStyle/>
        <a:p>
          <a:pPr latinLnBrk="1"/>
          <a:endParaRPr lang="ko-KR" altLang="en-US"/>
        </a:p>
      </dgm:t>
    </dgm:pt>
    <dgm:pt modelId="{82B0197D-3622-464B-9D48-DADE6D13FD1D}" type="pres">
      <dgm:prSet presAssocID="{151480E2-7592-4781-9676-D7F94FCF57E4}" presName="linear" presStyleCnt="0">
        <dgm:presLayoutVars>
          <dgm:animLvl val="lvl"/>
          <dgm:resizeHandles val="exact"/>
        </dgm:presLayoutVars>
      </dgm:prSet>
      <dgm:spPr/>
    </dgm:pt>
    <dgm:pt modelId="{8DB3D8BD-B5DC-426F-AD7D-419DC40C17E7}" type="pres">
      <dgm:prSet presAssocID="{11291A45-B87B-4BF7-8BC6-A825B64DAB4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7F58641-E3D0-4F07-ACAA-274141FAA0D8}" type="pres">
      <dgm:prSet presAssocID="{11291A45-B87B-4BF7-8BC6-A825B64DAB4E}" presName="childText" presStyleLbl="revTx" presStyleIdx="0" presStyleCnt="7">
        <dgm:presLayoutVars>
          <dgm:bulletEnabled val="1"/>
        </dgm:presLayoutVars>
      </dgm:prSet>
      <dgm:spPr/>
    </dgm:pt>
    <dgm:pt modelId="{81F6B258-C1C7-417B-BA8A-025ED784A6AE}" type="pres">
      <dgm:prSet presAssocID="{587944D9-2200-4283-86E2-22902DD7674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AC784B1-DF4C-4558-A36D-E67F9FF3503D}" type="pres">
      <dgm:prSet presAssocID="{587944D9-2200-4283-86E2-22902DD76749}" presName="childText" presStyleLbl="revTx" presStyleIdx="1" presStyleCnt="7">
        <dgm:presLayoutVars>
          <dgm:bulletEnabled val="1"/>
        </dgm:presLayoutVars>
      </dgm:prSet>
      <dgm:spPr/>
    </dgm:pt>
    <dgm:pt modelId="{9DD834A8-29C8-4137-9FAD-F876A2939304}" type="pres">
      <dgm:prSet presAssocID="{56A4F758-B22D-4586-8DB9-50CE1AACF68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43DE160-9300-4F2B-AD3E-EDB101B202E8}" type="pres">
      <dgm:prSet presAssocID="{56A4F758-B22D-4586-8DB9-50CE1AACF684}" presName="childText" presStyleLbl="revTx" presStyleIdx="2" presStyleCnt="7">
        <dgm:presLayoutVars>
          <dgm:bulletEnabled val="1"/>
        </dgm:presLayoutVars>
      </dgm:prSet>
      <dgm:spPr/>
    </dgm:pt>
    <dgm:pt modelId="{DCF6841D-1684-4CB8-99D3-0AA994CE27DE}" type="pres">
      <dgm:prSet presAssocID="{C766DECF-AF54-4B5D-8FEB-2155F214820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B1AE3FC-F49A-4112-9FF5-B3EC7B942C75}" type="pres">
      <dgm:prSet presAssocID="{C766DECF-AF54-4B5D-8FEB-2155F214820D}" presName="childText" presStyleLbl="revTx" presStyleIdx="3" presStyleCnt="7">
        <dgm:presLayoutVars>
          <dgm:bulletEnabled val="1"/>
        </dgm:presLayoutVars>
      </dgm:prSet>
      <dgm:spPr/>
    </dgm:pt>
    <dgm:pt modelId="{9A332668-332E-4913-A73E-F00347A9189C}" type="pres">
      <dgm:prSet presAssocID="{F4E6395A-FBCE-49CF-9C34-A49CC5538C8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3DA499C-DA6E-4A4C-B896-538C2A3AF7CD}" type="pres">
      <dgm:prSet presAssocID="{F4E6395A-FBCE-49CF-9C34-A49CC5538C86}" presName="childText" presStyleLbl="revTx" presStyleIdx="4" presStyleCnt="7">
        <dgm:presLayoutVars>
          <dgm:bulletEnabled val="1"/>
        </dgm:presLayoutVars>
      </dgm:prSet>
      <dgm:spPr/>
    </dgm:pt>
    <dgm:pt modelId="{95347AC3-C302-424F-A76D-30321BE41A20}" type="pres">
      <dgm:prSet presAssocID="{1E4EB86D-09A9-466D-AA26-00934DA84B5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1A223D7-7FF5-45E1-94D6-D0165632F882}" type="pres">
      <dgm:prSet presAssocID="{1E4EB86D-09A9-466D-AA26-00934DA84B5D}" presName="childText" presStyleLbl="revTx" presStyleIdx="5" presStyleCnt="7">
        <dgm:presLayoutVars>
          <dgm:bulletEnabled val="1"/>
        </dgm:presLayoutVars>
      </dgm:prSet>
      <dgm:spPr/>
    </dgm:pt>
    <dgm:pt modelId="{C5CCF2CC-AF6B-4733-8EE4-0FB83743039F}" type="pres">
      <dgm:prSet presAssocID="{D50B2702-2D02-4B53-8F7E-26405B876115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B3817681-D777-4EDA-8D2F-78536939AEC2}" type="pres">
      <dgm:prSet presAssocID="{D50B2702-2D02-4B53-8F7E-26405B876115}" presName="childText" presStyleLbl="revTx" presStyleIdx="6" presStyleCnt="7">
        <dgm:presLayoutVars>
          <dgm:bulletEnabled val="1"/>
        </dgm:presLayoutVars>
      </dgm:prSet>
      <dgm:spPr/>
    </dgm:pt>
  </dgm:ptLst>
  <dgm:cxnLst>
    <dgm:cxn modelId="{95855AE8-EC82-4676-BC0B-CFF7CA7BB8D1}" type="presOf" srcId="{151480E2-7592-4781-9676-D7F94FCF57E4}" destId="{82B0197D-3622-464B-9D48-DADE6D13FD1D}" srcOrd="0" destOrd="0" presId="urn:microsoft.com/office/officeart/2005/8/layout/vList2"/>
    <dgm:cxn modelId="{D078FD46-FCD8-4E07-B3A0-8A20CD2652C9}" type="presOf" srcId="{11291A45-B87B-4BF7-8BC6-A825B64DAB4E}" destId="{8DB3D8BD-B5DC-426F-AD7D-419DC40C17E7}" srcOrd="0" destOrd="0" presId="urn:microsoft.com/office/officeart/2005/8/layout/vList2"/>
    <dgm:cxn modelId="{3CB2C969-1C0F-45D0-8E5B-B25E367E45F3}" type="presOf" srcId="{C766DECF-AF54-4B5D-8FEB-2155F214820D}" destId="{DCF6841D-1684-4CB8-99D3-0AA994CE27DE}" srcOrd="0" destOrd="0" presId="urn:microsoft.com/office/officeart/2005/8/layout/vList2"/>
    <dgm:cxn modelId="{2BAA75DA-EDCB-4DFA-B073-CA93C76C737F}" srcId="{151480E2-7592-4781-9676-D7F94FCF57E4}" destId="{11291A45-B87B-4BF7-8BC6-A825B64DAB4E}" srcOrd="0" destOrd="0" parTransId="{E38602B2-AA3A-46CB-9512-16BA10011FAB}" sibTransId="{7B06041C-7AB1-4034-84D4-88964FBF3447}"/>
    <dgm:cxn modelId="{28B6CAF8-EF82-4BEE-8426-4510C2085461}" srcId="{C766DECF-AF54-4B5D-8FEB-2155F214820D}" destId="{0584C5AA-3203-46D5-B898-871BEBA9B2AB}" srcOrd="0" destOrd="0" parTransId="{43432A89-BEB7-46D1-88D2-B9B430C8733F}" sibTransId="{124B5FAA-BA9A-4889-919D-C6E7176FE106}"/>
    <dgm:cxn modelId="{FCD242D9-8BF4-4083-88DA-57442DA11B05}" srcId="{151480E2-7592-4781-9676-D7F94FCF57E4}" destId="{1E4EB86D-09A9-466D-AA26-00934DA84B5D}" srcOrd="5" destOrd="0" parTransId="{ADCD80EB-4984-47ED-A7F9-7124A49E07DF}" sibTransId="{59547676-F435-49F9-98CD-A2642E3C25C9}"/>
    <dgm:cxn modelId="{96AB7D1F-0AA3-45E5-AC82-16D571227557}" type="presOf" srcId="{FCF28CF7-97C7-493D-AA20-1C8FD359C1F9}" destId="{843DE160-9300-4F2B-AD3E-EDB101B202E8}" srcOrd="0" destOrd="1" presId="urn:microsoft.com/office/officeart/2005/8/layout/vList2"/>
    <dgm:cxn modelId="{8482412C-B17A-48AE-A326-17A926973762}" type="presOf" srcId="{D50B2702-2D02-4B53-8F7E-26405B876115}" destId="{C5CCF2CC-AF6B-4733-8EE4-0FB83743039F}" srcOrd="0" destOrd="0" presId="urn:microsoft.com/office/officeart/2005/8/layout/vList2"/>
    <dgm:cxn modelId="{A1419EB8-1BD4-4747-8A40-6F5A69FCF06E}" srcId="{F4E6395A-FBCE-49CF-9C34-A49CC5538C86}" destId="{A1E0C7C3-6EC8-463A-8F3D-C96696CCB94D}" srcOrd="0" destOrd="0" parTransId="{E3AF3C58-1940-4016-9F12-FAE8ECD2B793}" sibTransId="{7DD7EB56-51AC-4BBC-8567-4AE96B7244CF}"/>
    <dgm:cxn modelId="{15E47597-F7E6-485B-B467-D6255E19CE88}" srcId="{151480E2-7592-4781-9676-D7F94FCF57E4}" destId="{F4E6395A-FBCE-49CF-9C34-A49CC5538C86}" srcOrd="4" destOrd="0" parTransId="{BD673777-6B31-46F5-AD13-7C1883236722}" sibTransId="{618C3A88-56F7-4FE8-8F1C-87EAB497A5BC}"/>
    <dgm:cxn modelId="{E9A15C69-CC0F-42F3-AC18-6DB22E797F2C}" type="presOf" srcId="{1ADC9783-CFB9-4ACB-A3D0-B436B0C4AF40}" destId="{27F58641-E3D0-4F07-ACAA-274141FAA0D8}" srcOrd="0" destOrd="1" presId="urn:microsoft.com/office/officeart/2005/8/layout/vList2"/>
    <dgm:cxn modelId="{388A7638-E149-4CFA-8A2D-3C61D88E9029}" srcId="{F4E6395A-FBCE-49CF-9C34-A49CC5538C86}" destId="{22E80C79-C302-42D4-A24C-288D106E1EFD}" srcOrd="1" destOrd="0" parTransId="{5553A592-4FE0-4B83-B862-5A8E693BB251}" sibTransId="{76235AC2-EB60-41EF-9071-909E32BEB4A2}"/>
    <dgm:cxn modelId="{CC2E392F-A2F7-41E2-90B8-7BA358F2E38E}" type="presOf" srcId="{2D440E05-9CC6-40E8-82E9-7648072EAC32}" destId="{27F58641-E3D0-4F07-ACAA-274141FAA0D8}" srcOrd="0" destOrd="0" presId="urn:microsoft.com/office/officeart/2005/8/layout/vList2"/>
    <dgm:cxn modelId="{E4400FF8-A898-47A3-AD2C-D6EE53F219EE}" type="presOf" srcId="{1E4EB86D-09A9-466D-AA26-00934DA84B5D}" destId="{95347AC3-C302-424F-A76D-30321BE41A20}" srcOrd="0" destOrd="0" presId="urn:microsoft.com/office/officeart/2005/8/layout/vList2"/>
    <dgm:cxn modelId="{42982621-2132-43ED-9AE9-E399C22F2AE5}" srcId="{151480E2-7592-4781-9676-D7F94FCF57E4}" destId="{56A4F758-B22D-4586-8DB9-50CE1AACF684}" srcOrd="2" destOrd="0" parTransId="{8CCB0DB2-2506-4E90-B073-0EC2D6A481E0}" sibTransId="{4ABE62F0-C82C-4C09-AB91-A61718AB52E6}"/>
    <dgm:cxn modelId="{C77563E4-07FE-4302-A886-B792876DC031}" type="presOf" srcId="{0584C5AA-3203-46D5-B898-871BEBA9B2AB}" destId="{EB1AE3FC-F49A-4112-9FF5-B3EC7B942C75}" srcOrd="0" destOrd="0" presId="urn:microsoft.com/office/officeart/2005/8/layout/vList2"/>
    <dgm:cxn modelId="{7A71EEED-E74A-48A5-B0E0-AB7B9E6B6738}" type="presOf" srcId="{A1E0C7C3-6EC8-463A-8F3D-C96696CCB94D}" destId="{53DA499C-DA6E-4A4C-B896-538C2A3AF7CD}" srcOrd="0" destOrd="0" presId="urn:microsoft.com/office/officeart/2005/8/layout/vList2"/>
    <dgm:cxn modelId="{0360588D-4411-4DDF-A110-B94636CA749B}" srcId="{151480E2-7592-4781-9676-D7F94FCF57E4}" destId="{D50B2702-2D02-4B53-8F7E-26405B876115}" srcOrd="6" destOrd="0" parTransId="{487F08F8-CB1A-489D-AF5E-17C514498894}" sibTransId="{7B43287D-A452-4833-A982-7C45C59CDDDB}"/>
    <dgm:cxn modelId="{D1CD1017-B628-4EAB-A7E3-DBA550BC320F}" srcId="{D50B2702-2D02-4B53-8F7E-26405B876115}" destId="{AC68A64E-286C-4E30-8071-8DCFA5069E0F}" srcOrd="0" destOrd="0" parTransId="{1DCD8AD2-1628-4EF0-9249-0CEF41E5A205}" sibTransId="{A05592E6-34B1-42FC-B260-E427E441EB81}"/>
    <dgm:cxn modelId="{93F54BB0-CBB0-42EB-A491-23A6134BB8BB}" type="presOf" srcId="{587944D9-2200-4283-86E2-22902DD76749}" destId="{81F6B258-C1C7-417B-BA8A-025ED784A6AE}" srcOrd="0" destOrd="0" presId="urn:microsoft.com/office/officeart/2005/8/layout/vList2"/>
    <dgm:cxn modelId="{8A965AD5-3C40-43FA-B0C7-3990C37DBBF1}" srcId="{11291A45-B87B-4BF7-8BC6-A825B64DAB4E}" destId="{1ADC9783-CFB9-4ACB-A3D0-B436B0C4AF40}" srcOrd="1" destOrd="0" parTransId="{27F8C787-5B33-4860-A96D-C9370EB42224}" sibTransId="{76FF5EC9-74C9-436F-92B6-F5B471EE1138}"/>
    <dgm:cxn modelId="{02080F1E-62C0-43EC-987D-C06A9BB662C9}" type="presOf" srcId="{62BA8586-F4CA-4E21-898B-F4C54D9E4C77}" destId="{C1A223D7-7FF5-45E1-94D6-D0165632F882}" srcOrd="0" destOrd="0" presId="urn:microsoft.com/office/officeart/2005/8/layout/vList2"/>
    <dgm:cxn modelId="{2F3DC27D-FDFC-4432-9C59-DE93AD0881EF}" srcId="{151480E2-7592-4781-9676-D7F94FCF57E4}" destId="{587944D9-2200-4283-86E2-22902DD76749}" srcOrd="1" destOrd="0" parTransId="{904EA8E3-16CD-4D62-BBAF-1FB3C10333BB}" sibTransId="{EA081D6B-5BD1-40AE-9CFE-11635F7B149B}"/>
    <dgm:cxn modelId="{574A7A06-E240-43E6-962E-57301370C042}" srcId="{587944D9-2200-4283-86E2-22902DD76749}" destId="{B88877EF-8C61-4CB2-9390-A2C9C5A8E957}" srcOrd="0" destOrd="0" parTransId="{E859B99D-F763-4A0F-B6AF-1BA9D51A2E11}" sibTransId="{4A3CF9DB-4571-47F5-89B1-BF3FCAF0A3CC}"/>
    <dgm:cxn modelId="{3CEABB48-B060-4DFF-83DD-9EFCB56F49A8}" srcId="{D50B2702-2D02-4B53-8F7E-26405B876115}" destId="{176FC112-C776-401E-BAF0-40BB0C06217D}" srcOrd="1" destOrd="0" parTransId="{341CFCAC-277B-49F2-AECD-4B7FA80DBCF8}" sibTransId="{A00F8972-5064-4E3A-8671-CF19CDBB217D}"/>
    <dgm:cxn modelId="{6472CE30-1F17-4216-B2C8-22A1294599FE}" srcId="{151480E2-7592-4781-9676-D7F94FCF57E4}" destId="{C766DECF-AF54-4B5D-8FEB-2155F214820D}" srcOrd="3" destOrd="0" parTransId="{F588EE37-C800-4E0B-9F07-6127B0D2E35B}" sibTransId="{059063FB-D016-4417-9927-FC86F7F87E6C}"/>
    <dgm:cxn modelId="{64C8858F-3B29-476D-9D5C-B3E42424056A}" type="presOf" srcId="{B131FD6F-9F90-49B9-9295-C975D293A7CC}" destId="{843DE160-9300-4F2B-AD3E-EDB101B202E8}" srcOrd="0" destOrd="0" presId="urn:microsoft.com/office/officeart/2005/8/layout/vList2"/>
    <dgm:cxn modelId="{737C67E4-CCB6-4868-82BE-CF9E210E9174}" type="presOf" srcId="{22E80C79-C302-42D4-A24C-288D106E1EFD}" destId="{53DA499C-DA6E-4A4C-B896-538C2A3AF7CD}" srcOrd="0" destOrd="1" presId="urn:microsoft.com/office/officeart/2005/8/layout/vList2"/>
    <dgm:cxn modelId="{425B6D23-B075-419A-A6DD-BBD464CF6755}" type="presOf" srcId="{176FC112-C776-401E-BAF0-40BB0C06217D}" destId="{B3817681-D777-4EDA-8D2F-78536939AEC2}" srcOrd="0" destOrd="1" presId="urn:microsoft.com/office/officeart/2005/8/layout/vList2"/>
    <dgm:cxn modelId="{FBBCAD74-CBB6-4A58-9DBF-978D3ECCBF51}" type="presOf" srcId="{B88877EF-8C61-4CB2-9390-A2C9C5A8E957}" destId="{9AC784B1-DF4C-4558-A36D-E67F9FF3503D}" srcOrd="0" destOrd="0" presId="urn:microsoft.com/office/officeart/2005/8/layout/vList2"/>
    <dgm:cxn modelId="{6C478F67-FCCA-462F-8C89-0110D636BEA3}" type="presOf" srcId="{56A4F758-B22D-4586-8DB9-50CE1AACF684}" destId="{9DD834A8-29C8-4137-9FAD-F876A2939304}" srcOrd="0" destOrd="0" presId="urn:microsoft.com/office/officeart/2005/8/layout/vList2"/>
    <dgm:cxn modelId="{15215907-A1D3-4E5F-AEA9-908EFC51BAEF}" srcId="{587944D9-2200-4283-86E2-22902DD76749}" destId="{25B508E1-AAA6-44D9-BF9B-A7253039F318}" srcOrd="1" destOrd="0" parTransId="{EA04E6CB-E55E-415B-8DB2-1AE70ED2BBBC}" sibTransId="{590C8D4B-0620-4180-82F1-7927DD61F52F}"/>
    <dgm:cxn modelId="{546EBCF9-479A-461F-A42B-1349D1F9BA77}" srcId="{11291A45-B87B-4BF7-8BC6-A825B64DAB4E}" destId="{2D440E05-9CC6-40E8-82E9-7648072EAC32}" srcOrd="0" destOrd="0" parTransId="{1E5B27A1-204A-434F-B1CD-B1DA41C576CB}" sibTransId="{960CF5F8-3EB3-4392-BACC-46A6D12DC2CB}"/>
    <dgm:cxn modelId="{74FBC7B7-AAA2-4489-A836-0EC13BBA3603}" type="presOf" srcId="{F4E6395A-FBCE-49CF-9C34-A49CC5538C86}" destId="{9A332668-332E-4913-A73E-F00347A9189C}" srcOrd="0" destOrd="0" presId="urn:microsoft.com/office/officeart/2005/8/layout/vList2"/>
    <dgm:cxn modelId="{34D4EBD6-98E9-4265-B4F2-F2BEA8844BCE}" type="presOf" srcId="{AC68A64E-286C-4E30-8071-8DCFA5069E0F}" destId="{B3817681-D777-4EDA-8D2F-78536939AEC2}" srcOrd="0" destOrd="0" presId="urn:microsoft.com/office/officeart/2005/8/layout/vList2"/>
    <dgm:cxn modelId="{C9D51DA9-8803-4A01-87C2-442932D35163}" srcId="{56A4F758-B22D-4586-8DB9-50CE1AACF684}" destId="{B131FD6F-9F90-49B9-9295-C975D293A7CC}" srcOrd="0" destOrd="0" parTransId="{FE63A277-AD57-4240-9091-B33008EDC0C0}" sibTransId="{2119DE89-30EC-4376-98E1-BE3859310483}"/>
    <dgm:cxn modelId="{E0F00ECF-E114-4E2F-BC71-C6A765E489D2}" srcId="{1E4EB86D-09A9-466D-AA26-00934DA84B5D}" destId="{62BA8586-F4CA-4E21-898B-F4C54D9E4C77}" srcOrd="0" destOrd="0" parTransId="{1CB3A14C-ED84-4B38-A4C8-5DEA609F94D1}" sibTransId="{E54D0628-54BD-4682-B417-A3785CF0FD71}"/>
    <dgm:cxn modelId="{CC866135-9464-4E7A-BDEA-481276485F5D}" srcId="{56A4F758-B22D-4586-8DB9-50CE1AACF684}" destId="{FCF28CF7-97C7-493D-AA20-1C8FD359C1F9}" srcOrd="1" destOrd="0" parTransId="{A845E0F3-5767-47A5-A5E5-B023A569A35D}" sibTransId="{CCDCADB2-5047-4BE5-BAAE-04C2825E5A70}"/>
    <dgm:cxn modelId="{56C24019-DB5F-49B2-8C48-410BA7139D95}" type="presOf" srcId="{25B508E1-AAA6-44D9-BF9B-A7253039F318}" destId="{9AC784B1-DF4C-4558-A36D-E67F9FF3503D}" srcOrd="0" destOrd="1" presId="urn:microsoft.com/office/officeart/2005/8/layout/vList2"/>
    <dgm:cxn modelId="{FDA8C1D9-E5E6-4CD6-9A6F-D27AA7A08E7C}" type="presParOf" srcId="{82B0197D-3622-464B-9D48-DADE6D13FD1D}" destId="{8DB3D8BD-B5DC-426F-AD7D-419DC40C17E7}" srcOrd="0" destOrd="0" presId="urn:microsoft.com/office/officeart/2005/8/layout/vList2"/>
    <dgm:cxn modelId="{FCB7AFE9-2704-4D60-8218-C24CE3893ED5}" type="presParOf" srcId="{82B0197D-3622-464B-9D48-DADE6D13FD1D}" destId="{27F58641-E3D0-4F07-ACAA-274141FAA0D8}" srcOrd="1" destOrd="0" presId="urn:microsoft.com/office/officeart/2005/8/layout/vList2"/>
    <dgm:cxn modelId="{EE203BDF-F7F7-4B4E-9A25-5C109B35830A}" type="presParOf" srcId="{82B0197D-3622-464B-9D48-DADE6D13FD1D}" destId="{81F6B258-C1C7-417B-BA8A-025ED784A6AE}" srcOrd="2" destOrd="0" presId="urn:microsoft.com/office/officeart/2005/8/layout/vList2"/>
    <dgm:cxn modelId="{FC28B4E8-88BB-440B-8663-B525609154AC}" type="presParOf" srcId="{82B0197D-3622-464B-9D48-DADE6D13FD1D}" destId="{9AC784B1-DF4C-4558-A36D-E67F9FF3503D}" srcOrd="3" destOrd="0" presId="urn:microsoft.com/office/officeart/2005/8/layout/vList2"/>
    <dgm:cxn modelId="{9B1ABC42-CA44-47BB-8A31-7B93CC6EAB85}" type="presParOf" srcId="{82B0197D-3622-464B-9D48-DADE6D13FD1D}" destId="{9DD834A8-29C8-4137-9FAD-F876A2939304}" srcOrd="4" destOrd="0" presId="urn:microsoft.com/office/officeart/2005/8/layout/vList2"/>
    <dgm:cxn modelId="{240E6A05-82FA-4F8D-AD72-4A51ACA4903F}" type="presParOf" srcId="{82B0197D-3622-464B-9D48-DADE6D13FD1D}" destId="{843DE160-9300-4F2B-AD3E-EDB101B202E8}" srcOrd="5" destOrd="0" presId="urn:microsoft.com/office/officeart/2005/8/layout/vList2"/>
    <dgm:cxn modelId="{09785BBA-DE33-4024-BDE0-5378C5EF6D99}" type="presParOf" srcId="{82B0197D-3622-464B-9D48-DADE6D13FD1D}" destId="{DCF6841D-1684-4CB8-99D3-0AA994CE27DE}" srcOrd="6" destOrd="0" presId="urn:microsoft.com/office/officeart/2005/8/layout/vList2"/>
    <dgm:cxn modelId="{62FAC7A7-2B13-44A9-8447-A70E2184C6E5}" type="presParOf" srcId="{82B0197D-3622-464B-9D48-DADE6D13FD1D}" destId="{EB1AE3FC-F49A-4112-9FF5-B3EC7B942C75}" srcOrd="7" destOrd="0" presId="urn:microsoft.com/office/officeart/2005/8/layout/vList2"/>
    <dgm:cxn modelId="{E0D9A9BE-4E33-44F5-B21E-3ADF20324CDB}" type="presParOf" srcId="{82B0197D-3622-464B-9D48-DADE6D13FD1D}" destId="{9A332668-332E-4913-A73E-F00347A9189C}" srcOrd="8" destOrd="0" presId="urn:microsoft.com/office/officeart/2005/8/layout/vList2"/>
    <dgm:cxn modelId="{DF5B2D05-FB4B-42AC-8102-5612FF0F69AC}" type="presParOf" srcId="{82B0197D-3622-464B-9D48-DADE6D13FD1D}" destId="{53DA499C-DA6E-4A4C-B896-538C2A3AF7CD}" srcOrd="9" destOrd="0" presId="urn:microsoft.com/office/officeart/2005/8/layout/vList2"/>
    <dgm:cxn modelId="{FB6A8965-AF61-4E66-8E1E-8DF896B57F8F}" type="presParOf" srcId="{82B0197D-3622-464B-9D48-DADE6D13FD1D}" destId="{95347AC3-C302-424F-A76D-30321BE41A20}" srcOrd="10" destOrd="0" presId="urn:microsoft.com/office/officeart/2005/8/layout/vList2"/>
    <dgm:cxn modelId="{8DD1210B-5E3C-4853-A6AD-8DF3EEA9117F}" type="presParOf" srcId="{82B0197D-3622-464B-9D48-DADE6D13FD1D}" destId="{C1A223D7-7FF5-45E1-94D6-D0165632F882}" srcOrd="11" destOrd="0" presId="urn:microsoft.com/office/officeart/2005/8/layout/vList2"/>
    <dgm:cxn modelId="{491D43A9-43BF-468F-ADC8-7E35174883BD}" type="presParOf" srcId="{82B0197D-3622-464B-9D48-DADE6D13FD1D}" destId="{C5CCF2CC-AF6B-4733-8EE4-0FB83743039F}" srcOrd="12" destOrd="0" presId="urn:microsoft.com/office/officeart/2005/8/layout/vList2"/>
    <dgm:cxn modelId="{E1F7D7C9-137E-4A96-BBF0-1A1F040E3BC8}" type="presParOf" srcId="{82B0197D-3622-464B-9D48-DADE6D13FD1D}" destId="{B3817681-D777-4EDA-8D2F-78536939AEC2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3D8BD-B5DC-426F-AD7D-419DC40C17E7}">
      <dsp:nvSpPr>
        <dsp:cNvPr id="0" name=""/>
        <dsp:cNvSpPr/>
      </dsp:nvSpPr>
      <dsp:spPr>
        <a:xfrm>
          <a:off x="0" y="142140"/>
          <a:ext cx="10515600" cy="43918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400" kern="1200" smtClean="0"/>
            <a:t>생성 </a:t>
          </a:r>
          <a:r>
            <a:rPr lang="en-US" sz="1400" kern="1200" smtClean="0"/>
            <a:t>: </a:t>
          </a:r>
          <a:r>
            <a:rPr lang="ko-KR" sz="1400" kern="1200" smtClean="0"/>
            <a:t>도커 이미지를 기반으로 새로운 컨테이너를 생성합니다</a:t>
          </a:r>
          <a:r>
            <a:rPr lang="en-US" sz="1400" kern="1200" smtClean="0"/>
            <a:t>.</a:t>
          </a:r>
          <a:endParaRPr lang="en-US" sz="1400" kern="1200"/>
        </a:p>
      </dsp:txBody>
      <dsp:txXfrm>
        <a:off x="21439" y="163579"/>
        <a:ext cx="10472722" cy="396310"/>
      </dsp:txXfrm>
    </dsp:sp>
    <dsp:sp modelId="{27F58641-E3D0-4F07-ACAA-274141FAA0D8}">
      <dsp:nvSpPr>
        <dsp:cNvPr id="0" name=""/>
        <dsp:cNvSpPr/>
      </dsp:nvSpPr>
      <dsp:spPr>
        <a:xfrm>
          <a:off x="0" y="581329"/>
          <a:ext cx="10515600" cy="5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상태</a:t>
          </a:r>
          <a:r>
            <a:rPr lang="en-US" sz="1100" kern="1200" smtClean="0"/>
            <a:t>: </a:t>
          </a:r>
          <a:r>
            <a:rPr lang="ko-KR" sz="1100" kern="1200" smtClean="0"/>
            <a:t>이 단계에서는 컨테이너가 생성되지만 아직 실행되지는 않습니다</a:t>
          </a:r>
          <a:r>
            <a:rPr lang="en-US" sz="1100" kern="1200" smtClean="0"/>
            <a:t>.</a:t>
          </a:r>
          <a:endParaRPr lang="en-US" sz="1100" kern="1200"/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명령어</a:t>
          </a:r>
          <a:r>
            <a:rPr lang="en-US" sz="1100" kern="1200" smtClean="0"/>
            <a:t>: docker create</a:t>
          </a:r>
          <a:endParaRPr lang="en-US" sz="1100" kern="1200"/>
        </a:p>
      </dsp:txBody>
      <dsp:txXfrm>
        <a:off x="0" y="581329"/>
        <a:ext cx="10515600" cy="521640"/>
      </dsp:txXfrm>
    </dsp:sp>
    <dsp:sp modelId="{81F6B258-C1C7-417B-BA8A-025ED784A6AE}">
      <dsp:nvSpPr>
        <dsp:cNvPr id="0" name=""/>
        <dsp:cNvSpPr/>
      </dsp:nvSpPr>
      <dsp:spPr>
        <a:xfrm>
          <a:off x="0" y="1102969"/>
          <a:ext cx="10515600" cy="439188"/>
        </a:xfrm>
        <a:prstGeom prst="roundRect">
          <a:avLst/>
        </a:prstGeom>
        <a:gradFill rotWithShape="0">
          <a:gsLst>
            <a:gs pos="0">
              <a:schemeClr val="accent4">
                <a:hueOff val="1732615"/>
                <a:satOff val="-7995"/>
                <a:lumOff val="29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1732615"/>
                <a:satOff val="-7995"/>
                <a:lumOff val="29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1732615"/>
                <a:satOff val="-7995"/>
                <a:lumOff val="29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400" kern="1200" smtClean="0"/>
            <a:t>실행 </a:t>
          </a:r>
          <a:r>
            <a:rPr lang="en-US" sz="1400" kern="1200" smtClean="0"/>
            <a:t>: </a:t>
          </a:r>
          <a:r>
            <a:rPr lang="ko-KR" sz="1400" kern="1200" smtClean="0"/>
            <a:t>생성된 컨테이너를 시작하고 실행합니다</a:t>
          </a:r>
          <a:r>
            <a:rPr lang="en-US" sz="1400" kern="1200" smtClean="0"/>
            <a:t>.</a:t>
          </a:r>
          <a:endParaRPr lang="en-US" sz="1400" kern="1200"/>
        </a:p>
      </dsp:txBody>
      <dsp:txXfrm>
        <a:off x="21439" y="1124408"/>
        <a:ext cx="10472722" cy="396310"/>
      </dsp:txXfrm>
    </dsp:sp>
    <dsp:sp modelId="{9AC784B1-DF4C-4558-A36D-E67F9FF3503D}">
      <dsp:nvSpPr>
        <dsp:cNvPr id="0" name=""/>
        <dsp:cNvSpPr/>
      </dsp:nvSpPr>
      <dsp:spPr>
        <a:xfrm>
          <a:off x="0" y="1542157"/>
          <a:ext cx="10515600" cy="5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상태</a:t>
          </a:r>
          <a:r>
            <a:rPr lang="en-US" sz="1100" kern="1200" smtClean="0"/>
            <a:t>: </a:t>
          </a:r>
          <a:r>
            <a:rPr lang="ko-KR" sz="1100" kern="1200" smtClean="0"/>
            <a:t>컨테이너 내부의 애플리케이션이 동작하기 시작합니다</a:t>
          </a:r>
          <a:r>
            <a:rPr lang="en-US" sz="1100" kern="1200" smtClean="0"/>
            <a:t>.</a:t>
          </a:r>
          <a:endParaRPr lang="en-US" sz="1100" kern="1200"/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명령어</a:t>
          </a:r>
          <a:r>
            <a:rPr lang="en-US" sz="1100" kern="1200" smtClean="0"/>
            <a:t>: docker start </a:t>
          </a:r>
          <a:r>
            <a:rPr lang="ko-KR" sz="1100" kern="1200" smtClean="0"/>
            <a:t>또는 </a:t>
          </a:r>
          <a:r>
            <a:rPr lang="en-US" sz="1100" kern="1200" smtClean="0"/>
            <a:t>docker run (docker run</a:t>
          </a:r>
          <a:r>
            <a:rPr lang="ko-KR" sz="1100" kern="1200" smtClean="0"/>
            <a:t>은 </a:t>
          </a:r>
          <a:r>
            <a:rPr lang="en-US" sz="1100" kern="1200" smtClean="0"/>
            <a:t>create</a:t>
          </a:r>
          <a:r>
            <a:rPr lang="ko-KR" sz="1100" kern="1200" smtClean="0"/>
            <a:t>와 </a:t>
          </a:r>
          <a:r>
            <a:rPr lang="en-US" sz="1100" kern="1200" smtClean="0"/>
            <a:t>start</a:t>
          </a:r>
          <a:r>
            <a:rPr lang="ko-KR" sz="1100" kern="1200" smtClean="0"/>
            <a:t>를 합친 명령</a:t>
          </a:r>
          <a:r>
            <a:rPr lang="en-US" sz="1100" kern="1200" smtClean="0"/>
            <a:t>)</a:t>
          </a:r>
          <a:endParaRPr lang="en-US" sz="1100" kern="1200"/>
        </a:p>
      </dsp:txBody>
      <dsp:txXfrm>
        <a:off x="0" y="1542157"/>
        <a:ext cx="10515600" cy="521640"/>
      </dsp:txXfrm>
    </dsp:sp>
    <dsp:sp modelId="{9DD834A8-29C8-4137-9FAD-F876A2939304}">
      <dsp:nvSpPr>
        <dsp:cNvPr id="0" name=""/>
        <dsp:cNvSpPr/>
      </dsp:nvSpPr>
      <dsp:spPr>
        <a:xfrm>
          <a:off x="0" y="2063797"/>
          <a:ext cx="10515600" cy="439188"/>
        </a:xfrm>
        <a:prstGeom prst="roundRect">
          <a:avLst/>
        </a:prstGeom>
        <a:gradFill rotWithShape="0">
          <a:gsLst>
            <a:gs pos="0">
              <a:schemeClr val="accent4">
                <a:hueOff val="3465231"/>
                <a:satOff val="-15989"/>
                <a:lumOff val="58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3465231"/>
                <a:satOff val="-15989"/>
                <a:lumOff val="58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3465231"/>
                <a:satOff val="-15989"/>
                <a:lumOff val="58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400" kern="1200" smtClean="0"/>
            <a:t>일시중지 </a:t>
          </a:r>
          <a:r>
            <a:rPr lang="en-US" sz="1400" kern="1200" smtClean="0"/>
            <a:t>: </a:t>
          </a:r>
          <a:r>
            <a:rPr lang="ko-KR" sz="1400" kern="1200" smtClean="0"/>
            <a:t>실행 중인 컨테이너를 일시적으로 중지시킵니다</a:t>
          </a:r>
          <a:r>
            <a:rPr lang="en-US" sz="1400" kern="1200" smtClean="0"/>
            <a:t>.</a:t>
          </a:r>
          <a:endParaRPr lang="en-US" sz="1400" kern="1200"/>
        </a:p>
      </dsp:txBody>
      <dsp:txXfrm>
        <a:off x="21439" y="2085236"/>
        <a:ext cx="10472722" cy="396310"/>
      </dsp:txXfrm>
    </dsp:sp>
    <dsp:sp modelId="{843DE160-9300-4F2B-AD3E-EDB101B202E8}">
      <dsp:nvSpPr>
        <dsp:cNvPr id="0" name=""/>
        <dsp:cNvSpPr/>
      </dsp:nvSpPr>
      <dsp:spPr>
        <a:xfrm>
          <a:off x="0" y="2502986"/>
          <a:ext cx="10515600" cy="5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상태</a:t>
          </a:r>
          <a:r>
            <a:rPr lang="en-US" sz="1100" kern="1200" smtClean="0"/>
            <a:t>: </a:t>
          </a:r>
          <a:r>
            <a:rPr lang="ko-KR" sz="1100" kern="1200" smtClean="0"/>
            <a:t>컨테이너의 상태는 유지되지만</a:t>
          </a:r>
          <a:r>
            <a:rPr lang="en-US" sz="1100" kern="1200" smtClean="0"/>
            <a:t>, </a:t>
          </a:r>
          <a:r>
            <a:rPr lang="ko-KR" sz="1100" kern="1200" smtClean="0"/>
            <a:t>프로세스 실행은 멈춥니다</a:t>
          </a:r>
          <a:r>
            <a:rPr lang="en-US" sz="1100" kern="1200" smtClean="0"/>
            <a:t>.</a:t>
          </a:r>
          <a:endParaRPr lang="en-US" sz="1100" kern="1200"/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명령어</a:t>
          </a:r>
          <a:r>
            <a:rPr lang="en-US" sz="1100" kern="1200" smtClean="0"/>
            <a:t>: docker pause</a:t>
          </a:r>
          <a:endParaRPr lang="en-US" sz="1100" kern="1200"/>
        </a:p>
      </dsp:txBody>
      <dsp:txXfrm>
        <a:off x="0" y="2502986"/>
        <a:ext cx="10515600" cy="521640"/>
      </dsp:txXfrm>
    </dsp:sp>
    <dsp:sp modelId="{DCF6841D-1684-4CB8-99D3-0AA994CE27DE}">
      <dsp:nvSpPr>
        <dsp:cNvPr id="0" name=""/>
        <dsp:cNvSpPr/>
      </dsp:nvSpPr>
      <dsp:spPr>
        <a:xfrm>
          <a:off x="0" y="3024626"/>
          <a:ext cx="10515600" cy="439188"/>
        </a:xfrm>
        <a:prstGeom prst="roundRect">
          <a:avLst/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400" kern="1200" smtClean="0"/>
            <a:t>재개 </a:t>
          </a:r>
          <a:r>
            <a:rPr lang="en-US" sz="1400" kern="1200" smtClean="0"/>
            <a:t>: </a:t>
          </a:r>
          <a:r>
            <a:rPr lang="ko-KR" sz="1400" kern="1200" smtClean="0"/>
            <a:t>일시 중지된 컨테이너를 다시 실행 상태로 되돌립니다</a:t>
          </a:r>
          <a:r>
            <a:rPr lang="en-US" sz="1400" kern="1200" smtClean="0"/>
            <a:t>.</a:t>
          </a:r>
          <a:endParaRPr lang="en-US" sz="1400" kern="1200"/>
        </a:p>
      </dsp:txBody>
      <dsp:txXfrm>
        <a:off x="21439" y="3046065"/>
        <a:ext cx="10472722" cy="396310"/>
      </dsp:txXfrm>
    </dsp:sp>
    <dsp:sp modelId="{EB1AE3FC-F49A-4112-9FF5-B3EC7B942C75}">
      <dsp:nvSpPr>
        <dsp:cNvPr id="0" name=""/>
        <dsp:cNvSpPr/>
      </dsp:nvSpPr>
      <dsp:spPr>
        <a:xfrm>
          <a:off x="0" y="3463815"/>
          <a:ext cx="10515600" cy="253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명령어</a:t>
          </a:r>
          <a:r>
            <a:rPr lang="en-US" sz="1100" kern="1200" smtClean="0"/>
            <a:t>: docker unpause</a:t>
          </a:r>
          <a:endParaRPr lang="en-US" sz="1100" kern="1200"/>
        </a:p>
      </dsp:txBody>
      <dsp:txXfrm>
        <a:off x="0" y="3463815"/>
        <a:ext cx="10515600" cy="253575"/>
      </dsp:txXfrm>
    </dsp:sp>
    <dsp:sp modelId="{9A332668-332E-4913-A73E-F00347A9189C}">
      <dsp:nvSpPr>
        <dsp:cNvPr id="0" name=""/>
        <dsp:cNvSpPr/>
      </dsp:nvSpPr>
      <dsp:spPr>
        <a:xfrm>
          <a:off x="0" y="3717390"/>
          <a:ext cx="10515600" cy="439188"/>
        </a:xfrm>
        <a:prstGeom prst="roundRect">
          <a:avLst/>
        </a:prstGeom>
        <a:gradFill rotWithShape="0">
          <a:gsLst>
            <a:gs pos="0">
              <a:schemeClr val="accent4">
                <a:hueOff val="6930461"/>
                <a:satOff val="-31979"/>
                <a:lumOff val="117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6930461"/>
                <a:satOff val="-31979"/>
                <a:lumOff val="117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6930461"/>
                <a:satOff val="-31979"/>
                <a:lumOff val="117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400" kern="1200" smtClean="0"/>
            <a:t>중지 </a:t>
          </a:r>
          <a:r>
            <a:rPr lang="en-US" sz="1400" kern="1200" smtClean="0"/>
            <a:t>: </a:t>
          </a:r>
          <a:r>
            <a:rPr lang="ko-KR" sz="1400" kern="1200" smtClean="0"/>
            <a:t>실행 중인 컨테이너를 완전히 중지시킵니다</a:t>
          </a:r>
          <a:r>
            <a:rPr lang="en-US" sz="1400" kern="1200" smtClean="0"/>
            <a:t>.</a:t>
          </a:r>
          <a:endParaRPr lang="en-US" sz="1400" kern="1200"/>
        </a:p>
      </dsp:txBody>
      <dsp:txXfrm>
        <a:off x="21439" y="3738829"/>
        <a:ext cx="10472722" cy="396310"/>
      </dsp:txXfrm>
    </dsp:sp>
    <dsp:sp modelId="{53DA499C-DA6E-4A4C-B896-538C2A3AF7CD}">
      <dsp:nvSpPr>
        <dsp:cNvPr id="0" name=""/>
        <dsp:cNvSpPr/>
      </dsp:nvSpPr>
      <dsp:spPr>
        <a:xfrm>
          <a:off x="0" y="4156579"/>
          <a:ext cx="10515600" cy="5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상태</a:t>
          </a:r>
          <a:r>
            <a:rPr lang="en-US" sz="1100" kern="1200" smtClean="0"/>
            <a:t>: </a:t>
          </a:r>
          <a:r>
            <a:rPr lang="ko-KR" sz="1100" kern="1200" smtClean="0"/>
            <a:t>컨테이너의 상태는 저장되지만</a:t>
          </a:r>
          <a:r>
            <a:rPr lang="en-US" sz="1100" kern="1200" smtClean="0"/>
            <a:t>, </a:t>
          </a:r>
          <a:r>
            <a:rPr lang="ko-KR" sz="1100" kern="1200" smtClean="0"/>
            <a:t>실행은 완전히 멈춥니다</a:t>
          </a:r>
          <a:r>
            <a:rPr lang="en-US" sz="1100" kern="1200" smtClean="0"/>
            <a:t>.</a:t>
          </a:r>
          <a:endParaRPr lang="en-US" sz="1100" kern="1200"/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명령어</a:t>
          </a:r>
          <a:r>
            <a:rPr lang="en-US" sz="1100" kern="1200" smtClean="0"/>
            <a:t>: docker stop</a:t>
          </a:r>
          <a:endParaRPr lang="en-US" sz="1100" kern="1200"/>
        </a:p>
      </dsp:txBody>
      <dsp:txXfrm>
        <a:off x="0" y="4156579"/>
        <a:ext cx="10515600" cy="521640"/>
      </dsp:txXfrm>
    </dsp:sp>
    <dsp:sp modelId="{95347AC3-C302-424F-A76D-30321BE41A20}">
      <dsp:nvSpPr>
        <dsp:cNvPr id="0" name=""/>
        <dsp:cNvSpPr/>
      </dsp:nvSpPr>
      <dsp:spPr>
        <a:xfrm>
          <a:off x="0" y="4678219"/>
          <a:ext cx="10515600" cy="439188"/>
        </a:xfrm>
        <a:prstGeom prst="roundRect">
          <a:avLst/>
        </a:prstGeom>
        <a:gradFill rotWithShape="0">
          <a:gsLst>
            <a:gs pos="0">
              <a:schemeClr val="accent4">
                <a:hueOff val="8663077"/>
                <a:satOff val="-39973"/>
                <a:lumOff val="147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8663077"/>
                <a:satOff val="-39973"/>
                <a:lumOff val="147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8663077"/>
                <a:satOff val="-39973"/>
                <a:lumOff val="147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400" kern="1200" smtClean="0"/>
            <a:t>재시작 </a:t>
          </a:r>
          <a:r>
            <a:rPr lang="en-US" sz="1400" kern="1200" smtClean="0"/>
            <a:t>: </a:t>
          </a:r>
          <a:r>
            <a:rPr lang="ko-KR" sz="1400" kern="1200" smtClean="0"/>
            <a:t>중지된 컨테이너를 다시 시작합니다</a:t>
          </a:r>
          <a:r>
            <a:rPr lang="en-US" sz="1400" kern="1200" smtClean="0"/>
            <a:t>. </a:t>
          </a:r>
          <a:r>
            <a:rPr lang="ko-KR" sz="1400" kern="1200" smtClean="0"/>
            <a:t>또는 실행 중인 컨테이너를 중지하고 다시 시작합니다</a:t>
          </a:r>
          <a:r>
            <a:rPr lang="en-US" sz="1400" kern="1200" smtClean="0"/>
            <a:t>.</a:t>
          </a:r>
          <a:endParaRPr lang="en-US" sz="1400" kern="1200"/>
        </a:p>
      </dsp:txBody>
      <dsp:txXfrm>
        <a:off x="21439" y="4699658"/>
        <a:ext cx="10472722" cy="396310"/>
      </dsp:txXfrm>
    </dsp:sp>
    <dsp:sp modelId="{C1A223D7-7FF5-45E1-94D6-D0165632F882}">
      <dsp:nvSpPr>
        <dsp:cNvPr id="0" name=""/>
        <dsp:cNvSpPr/>
      </dsp:nvSpPr>
      <dsp:spPr>
        <a:xfrm>
          <a:off x="0" y="5117407"/>
          <a:ext cx="10515600" cy="253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명령어</a:t>
          </a:r>
          <a:r>
            <a:rPr lang="en-US" sz="1100" kern="1200" smtClean="0"/>
            <a:t>: docker restart</a:t>
          </a:r>
          <a:endParaRPr lang="en-US" sz="1100" kern="1200"/>
        </a:p>
      </dsp:txBody>
      <dsp:txXfrm>
        <a:off x="0" y="5117407"/>
        <a:ext cx="10515600" cy="253575"/>
      </dsp:txXfrm>
    </dsp:sp>
    <dsp:sp modelId="{C5CCF2CC-AF6B-4733-8EE4-0FB83743039F}">
      <dsp:nvSpPr>
        <dsp:cNvPr id="0" name=""/>
        <dsp:cNvSpPr/>
      </dsp:nvSpPr>
      <dsp:spPr>
        <a:xfrm>
          <a:off x="0" y="5370982"/>
          <a:ext cx="10515600" cy="439188"/>
        </a:xfrm>
        <a:prstGeom prst="roundRect">
          <a:avLst/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sz="1400" kern="1200" smtClean="0"/>
            <a:t>삭제 </a:t>
          </a:r>
          <a:r>
            <a:rPr lang="en-US" sz="1400" kern="1200" smtClean="0"/>
            <a:t>: </a:t>
          </a:r>
          <a:r>
            <a:rPr lang="ko-KR" sz="1400" kern="1200" smtClean="0"/>
            <a:t>중지된 컨테이너를 완전히 시스템에서 제거합니다</a:t>
          </a:r>
          <a:r>
            <a:rPr lang="en-US" sz="1400" kern="1200" smtClean="0"/>
            <a:t>.</a:t>
          </a:r>
          <a:endParaRPr lang="en-US" sz="1400" kern="1200"/>
        </a:p>
      </dsp:txBody>
      <dsp:txXfrm>
        <a:off x="21439" y="5392421"/>
        <a:ext cx="10472722" cy="396310"/>
      </dsp:txXfrm>
    </dsp:sp>
    <dsp:sp modelId="{B3817681-D777-4EDA-8D2F-78536939AEC2}">
      <dsp:nvSpPr>
        <dsp:cNvPr id="0" name=""/>
        <dsp:cNvSpPr/>
      </dsp:nvSpPr>
      <dsp:spPr>
        <a:xfrm>
          <a:off x="0" y="5810171"/>
          <a:ext cx="10515600" cy="5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명령어</a:t>
          </a:r>
          <a:r>
            <a:rPr lang="en-US" sz="1100" kern="1200" smtClean="0"/>
            <a:t>: docker rm</a:t>
          </a:r>
          <a:endParaRPr lang="en-US" sz="1100" kern="1200"/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sz="1100" kern="1200" smtClean="0"/>
            <a:t>참고</a:t>
          </a:r>
          <a:r>
            <a:rPr lang="en-US" sz="1100" kern="1200" smtClean="0"/>
            <a:t>: </a:t>
          </a:r>
          <a:r>
            <a:rPr lang="ko-KR" sz="1100" kern="1200" smtClean="0"/>
            <a:t>실행 중인 컨테이너는 강제로 중지하고 삭제할 수 있습니다 </a:t>
          </a:r>
          <a:r>
            <a:rPr lang="en-US" sz="1100" kern="1200" smtClean="0"/>
            <a:t>(-f </a:t>
          </a:r>
          <a:r>
            <a:rPr lang="ko-KR" sz="1100" kern="1200" smtClean="0"/>
            <a:t>옵션 사용</a:t>
          </a:r>
          <a:r>
            <a:rPr lang="en-US" sz="1100" kern="1200" smtClean="0"/>
            <a:t>).</a:t>
          </a:r>
          <a:endParaRPr lang="en-US" sz="1100" kern="1200"/>
        </a:p>
      </dsp:txBody>
      <dsp:txXfrm>
        <a:off x="0" y="5810171"/>
        <a:ext cx="10515600" cy="521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4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6471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57835"/>
            <a:ext cx="10515600" cy="511912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0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4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2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1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6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1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50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07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63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1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23C4C-FF0E-4D6A-AD93-7FB1641F60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2B0D0-AC22-47AC-A559-610056EB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6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maker5587.tistory.com/96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aker5587.tistory.com/96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maker5587.tistory.com/96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548640"/>
            <a:ext cx="9144000" cy="1947672"/>
          </a:xfrm>
        </p:spPr>
        <p:txBody>
          <a:bodyPr anchor="ctr">
            <a:normAutofit/>
          </a:bodyPr>
          <a:lstStyle/>
          <a:p>
            <a:r>
              <a:rPr lang="ko-KR" altLang="en-US" sz="66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도커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그림 3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91" y="3509963"/>
            <a:ext cx="10257409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8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화면 캡처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088" y="1191704"/>
            <a:ext cx="5926905" cy="3883215"/>
          </a:xfrm>
        </p:spPr>
      </p:pic>
    </p:spTree>
    <p:extLst>
      <p:ext uri="{BB962C8B-B14F-4D97-AF65-F5344CB8AC3E}">
        <p14:creationId xmlns:p14="http://schemas.microsoft.com/office/powerpoint/2010/main" val="364824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12" y="1230460"/>
            <a:ext cx="3495978" cy="29648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496" y="4522900"/>
            <a:ext cx="422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70C0"/>
                </a:solidFill>
              </a:rPr>
              <a:t>하나의 소프트웨어는 하나의 서버에서 실행되어야 안전하다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6" name="그림 5" descr="화면 캡처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64" y="1529016"/>
            <a:ext cx="6049626" cy="2993884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4939244" y="1874520"/>
            <a:ext cx="886968" cy="576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866092" y="2642616"/>
            <a:ext cx="1033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비효율 해결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913200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439" y="1082604"/>
            <a:ext cx="7117697" cy="456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2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383" y="537770"/>
            <a:ext cx="4945809" cy="3840813"/>
          </a:xfrm>
          <a:prstGeom prst="rect">
            <a:avLst/>
          </a:prstGeom>
        </p:spPr>
      </p:pic>
      <p:pic>
        <p:nvPicPr>
          <p:cNvPr id="3" name="그림 2" descr="화면 캡처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047"/>
          <a:stretch/>
        </p:blipFill>
        <p:spPr>
          <a:xfrm>
            <a:off x="144335" y="941665"/>
            <a:ext cx="3174937" cy="34369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15968" y="5074920"/>
            <a:ext cx="634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컨테이너 관리를 위한 일종의 프로그램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673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80" y="1610016"/>
            <a:ext cx="2837772" cy="30517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67328" y="2298115"/>
            <a:ext cx="70225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b="1" dirty="0" err="1" smtClean="0"/>
              <a:t>도커가</a:t>
            </a:r>
            <a:r>
              <a:rPr lang="ko-KR" altLang="en-US" sz="2800" b="1" dirty="0" smtClean="0"/>
              <a:t> 실행 중인 여러 대의 서버를 관리하기 위한 도구</a:t>
            </a:r>
            <a:endParaRPr lang="en-US" altLang="ko-KR" sz="28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b="1" dirty="0" smtClean="0"/>
              <a:t>오케스트레이션 도구 </a:t>
            </a:r>
            <a:endParaRPr lang="en-US" altLang="ko-KR" sz="28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7051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511" y="1797442"/>
            <a:ext cx="9049547" cy="3432925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1115568" y="694944"/>
            <a:ext cx="1901952" cy="694944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smtClean="0"/>
              <a:t>정리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43896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도커</a:t>
            </a:r>
            <a:r>
              <a:rPr lang="en-US" altLang="ko-KR" dirty="0" smtClean="0"/>
              <a:t>(</a:t>
            </a:r>
            <a:r>
              <a:rPr lang="en-US" dirty="0" smtClean="0"/>
              <a:t>Docker)</a:t>
            </a:r>
            <a:r>
              <a:rPr lang="ko-KR" altLang="en-US" dirty="0" smtClean="0"/>
              <a:t>란</a:t>
            </a:r>
            <a:r>
              <a:rPr lang="en-US" altLang="ko-KR" dirty="0" smtClean="0"/>
              <a:t>?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smtClean="0"/>
              <a:t>프로그램을 컨테이너</a:t>
            </a:r>
            <a:r>
              <a:rPr lang="en-US" altLang="ko-KR" b="1" dirty="0" smtClean="0"/>
              <a:t>(Container)</a:t>
            </a:r>
            <a:r>
              <a:rPr lang="ko-KR" altLang="en-US" dirty="0" smtClean="0"/>
              <a:t> 라는 독립된 공간에 넣어 어디서든 동일하게 실행되도록 도와주는 기술</a:t>
            </a:r>
            <a:endParaRPr lang="en-US" altLang="ko-KR" dirty="0" smtClean="0"/>
          </a:p>
          <a:p>
            <a:r>
              <a:rPr lang="ko-KR" altLang="en-US" b="1" dirty="0" smtClean="0"/>
              <a:t>응용 프로그램을 표준화된 컨테이너 이미지로 </a:t>
            </a:r>
            <a:r>
              <a:rPr lang="ko-KR" altLang="en-US" b="1" dirty="0" err="1" smtClean="0"/>
              <a:t>패키징하고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b="1" dirty="0" smtClean="0"/>
              <a:t>리눅스</a:t>
            </a:r>
            <a:r>
              <a:rPr lang="en-US" altLang="ko-KR" b="1" dirty="0" smtClean="0"/>
              <a:t>·</a:t>
            </a:r>
            <a:r>
              <a:rPr lang="ko-KR" altLang="en-US" b="1" dirty="0" smtClean="0"/>
              <a:t>윈도우 어디서든 동일한 환경에서 실행할 수 있게 해주는 플랫폼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42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도커의</a:t>
            </a:r>
            <a:r>
              <a:rPr lang="ko-KR" altLang="en-US" dirty="0" smtClean="0"/>
              <a:t> 핵심 개념</a:t>
            </a:r>
            <a:endParaRPr 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493550"/>
              </p:ext>
            </p:extLst>
          </p:nvPr>
        </p:nvGraphicFramePr>
        <p:xfrm>
          <a:off x="838200" y="2057399"/>
          <a:ext cx="10515600" cy="3209545"/>
        </p:xfrm>
        <a:graphic>
          <a:graphicData uri="http://schemas.openxmlformats.org/drawingml/2006/table">
            <a:tbl>
              <a:tblPr/>
              <a:tblGrid>
                <a:gridCol w="2371344">
                  <a:extLst>
                    <a:ext uri="{9D8B030D-6E8A-4147-A177-3AD203B41FA5}">
                      <a16:colId xmlns:a16="http://schemas.microsoft.com/office/drawing/2014/main" val="2094887829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524764148"/>
                    </a:ext>
                  </a:extLst>
                </a:gridCol>
                <a:gridCol w="3892296">
                  <a:extLst>
                    <a:ext uri="{9D8B030D-6E8A-4147-A177-3AD203B41FA5}">
                      <a16:colId xmlns:a16="http://schemas.microsoft.com/office/drawing/2014/main" val="1006993543"/>
                    </a:ext>
                  </a:extLst>
                </a:gridCol>
              </a:tblGrid>
              <a:tr h="641909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개념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893033"/>
                  </a:ext>
                </a:extLst>
              </a:tr>
              <a:tr h="641909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이미지</a:t>
                      </a:r>
                      <a:r>
                        <a:rPr lang="en-US" altLang="ko-KR" b="1" dirty="0"/>
                        <a:t>(</a:t>
                      </a:r>
                      <a:r>
                        <a:rPr lang="en-US" b="1" dirty="0"/>
                        <a:t>Image)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프로그램과 실행 환경을 묶은 ‘설계도’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Ubuntu, Nginx, Python3 </a:t>
                      </a:r>
                      <a:r>
                        <a:rPr lang="ko-KR" altLang="en-US"/>
                        <a:t>이미지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418720"/>
                  </a:ext>
                </a:extLst>
              </a:tr>
              <a:tr h="641909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컨테이너</a:t>
                      </a:r>
                      <a:r>
                        <a:rPr lang="en-US" altLang="ko-KR" b="1" dirty="0"/>
                        <a:t>(</a:t>
                      </a:r>
                      <a:r>
                        <a:rPr lang="en-US" b="1" dirty="0"/>
                        <a:t>Container)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이미지를 실제로 실행한 </a:t>
                      </a:r>
                      <a:r>
                        <a:rPr lang="ko-KR" altLang="en-US" b="1"/>
                        <a:t>실행 인스턴스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nginx </a:t>
                      </a:r>
                      <a:r>
                        <a:rPr lang="ko-KR" altLang="en-US"/>
                        <a:t>컨테이너 실행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57272"/>
                  </a:ext>
                </a:extLst>
              </a:tr>
              <a:tr h="641909">
                <a:tc>
                  <a:txBody>
                    <a:bodyPr/>
                    <a:lstStyle/>
                    <a:p>
                      <a:r>
                        <a:rPr lang="en-US" b="1" dirty="0"/>
                        <a:t>Docker Hub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이미지 저장소 </a:t>
                      </a:r>
                      <a:r>
                        <a:rPr lang="en-US" altLang="ko-KR"/>
                        <a:t>(GitHub</a:t>
                      </a:r>
                      <a:r>
                        <a:rPr lang="ko-KR" altLang="en-US"/>
                        <a:t>의 도커 버전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2"/>
                        </a:rPr>
                        <a:t>https://hub.docker.com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087094"/>
                  </a:ext>
                </a:extLst>
              </a:tr>
              <a:tr h="641909">
                <a:tc>
                  <a:txBody>
                    <a:bodyPr/>
                    <a:lstStyle/>
                    <a:p>
                      <a:r>
                        <a:rPr lang="en-US" b="1" dirty="0" err="1"/>
                        <a:t>Dockerfile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이미지를 만드는 ‘설정 스크립트’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Python </a:t>
                      </a:r>
                      <a:r>
                        <a:rPr lang="ko-KR" altLang="en-US" dirty="0"/>
                        <a:t>웹 서버 </a:t>
                      </a:r>
                      <a:r>
                        <a:rPr lang="ko-KR" altLang="en-US" dirty="0" err="1"/>
                        <a:t>빌드용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Dockerfile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417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231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도커</a:t>
            </a:r>
            <a:r>
              <a:rPr lang="ko-KR" altLang="en-US" dirty="0" smtClean="0"/>
              <a:t> 설치</a:t>
            </a:r>
            <a:endParaRPr 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6583744"/>
              </p:ext>
            </p:extLst>
          </p:nvPr>
        </p:nvGraphicFramePr>
        <p:xfrm>
          <a:off x="655320" y="1690688"/>
          <a:ext cx="10515600" cy="4536378"/>
        </p:xfrm>
        <a:graphic>
          <a:graphicData uri="http://schemas.openxmlformats.org/drawingml/2006/table">
            <a:tbl>
              <a:tblPr/>
              <a:tblGrid>
                <a:gridCol w="871728">
                  <a:extLst>
                    <a:ext uri="{9D8B030D-6E8A-4147-A177-3AD203B41FA5}">
                      <a16:colId xmlns:a16="http://schemas.microsoft.com/office/drawing/2014/main" val="3034328807"/>
                    </a:ext>
                  </a:extLst>
                </a:gridCol>
                <a:gridCol w="4809744">
                  <a:extLst>
                    <a:ext uri="{9D8B030D-6E8A-4147-A177-3AD203B41FA5}">
                      <a16:colId xmlns:a16="http://schemas.microsoft.com/office/drawing/2014/main" val="3261697117"/>
                    </a:ext>
                  </a:extLst>
                </a:gridCol>
                <a:gridCol w="4834128">
                  <a:extLst>
                    <a:ext uri="{9D8B030D-6E8A-4147-A177-3AD203B41FA5}">
                      <a16:colId xmlns:a16="http://schemas.microsoft.com/office/drawing/2014/main" val="1236317265"/>
                    </a:ext>
                  </a:extLst>
                </a:gridCol>
              </a:tblGrid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명령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23449"/>
                  </a:ext>
                </a:extLst>
              </a:tr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sudo</a:t>
                      </a:r>
                      <a:r>
                        <a:rPr lang="en-US" dirty="0"/>
                        <a:t> apt-get remove </a:t>
                      </a:r>
                      <a:r>
                        <a:rPr lang="en-US" dirty="0" err="1"/>
                        <a:t>docker</a:t>
                      </a:r>
                      <a:r>
                        <a:rPr lang="en-US" dirty="0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기존 버전 제거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877775"/>
                  </a:ext>
                </a:extLst>
              </a:tr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sudo apt-get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패키지 정보 갱신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807615"/>
                  </a:ext>
                </a:extLst>
              </a:tr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curl ... docker.gpg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GPG </a:t>
                      </a:r>
                      <a:r>
                        <a:rPr lang="ko-KR" altLang="en-US"/>
                        <a:t>키 등록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203864"/>
                  </a:ext>
                </a:extLst>
              </a:tr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sudo tee ... docker.list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저장소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889537"/>
                  </a:ext>
                </a:extLst>
              </a:tr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sudo apt-get install docker-ce 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도커 설치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293960"/>
                  </a:ext>
                </a:extLst>
              </a:tr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docker --version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설치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540501"/>
                  </a:ext>
                </a:extLst>
              </a:tr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sudo usermod -aG docker $USER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일반 사용자 권한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995873"/>
                  </a:ext>
                </a:extLst>
              </a:tr>
              <a:tr h="504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docker run hello-world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동작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929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132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기본 명령어</a:t>
            </a:r>
            <a:endParaRPr lang="en-US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32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정보 </a:t>
            </a:r>
            <a:r>
              <a:rPr lang="ko-KR" altLang="en-US" dirty="0" smtClean="0"/>
              <a:t>확인</a:t>
            </a:r>
            <a:endParaRPr 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19994"/>
              </p:ext>
            </p:extLst>
          </p:nvPr>
        </p:nvGraphicFramePr>
        <p:xfrm>
          <a:off x="609600" y="1413890"/>
          <a:ext cx="10515600" cy="323126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3413760">
                  <a:extLst>
                    <a:ext uri="{9D8B030D-6E8A-4147-A177-3AD203B41FA5}">
                      <a16:colId xmlns:a16="http://schemas.microsoft.com/office/drawing/2014/main" val="2382325104"/>
                    </a:ext>
                  </a:extLst>
                </a:gridCol>
                <a:gridCol w="7101840">
                  <a:extLst>
                    <a:ext uri="{9D8B030D-6E8A-4147-A177-3AD203B41FA5}">
                      <a16:colId xmlns:a16="http://schemas.microsoft.com/office/drawing/2014/main" val="953458798"/>
                    </a:ext>
                  </a:extLst>
                </a:gridCol>
              </a:tblGrid>
              <a:tr h="646252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명령어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설명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211629"/>
                  </a:ext>
                </a:extLst>
              </a:tr>
              <a:tr h="646252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Docker </a:t>
                      </a:r>
                      <a:r>
                        <a:rPr lang="ko-KR" altLang="en-US"/>
                        <a:t>클라이언트와 서버의 버전 정보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56950"/>
                  </a:ext>
                </a:extLst>
              </a:tr>
              <a:tr h="646252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Docker </a:t>
                      </a:r>
                      <a:r>
                        <a:rPr lang="ko-KR" altLang="en-US"/>
                        <a:t>시스템 정보 출력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엔진 상태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플러그인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리소스 등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949120"/>
                  </a:ext>
                </a:extLst>
              </a:tr>
              <a:tr h="646252">
                <a:tc>
                  <a:txBody>
                    <a:bodyPr/>
                    <a:lstStyle/>
                    <a:p>
                      <a:r>
                        <a:rPr lang="en-US"/>
                        <a:t>docker --help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Docker </a:t>
                      </a:r>
                      <a:r>
                        <a:rPr lang="ko-KR" altLang="en-US"/>
                        <a:t>명령어 도움말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365837"/>
                  </a:ext>
                </a:extLst>
              </a:tr>
              <a:tr h="646252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&lt;command&gt; --help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특정 명령어의 상세 도움말 표시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en-US" dirty="0" err="1"/>
                        <a:t>docker</a:t>
                      </a:r>
                      <a:r>
                        <a:rPr lang="en-US" dirty="0"/>
                        <a:t> container run --help)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117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305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Docker </a:t>
            </a:r>
            <a:r>
              <a:rPr lang="ko-KR" altLang="en-US" dirty="0"/>
              <a:t>명령어 기본 </a:t>
            </a:r>
            <a:r>
              <a:rPr lang="ko-KR" altLang="en-US" dirty="0" smtClean="0"/>
              <a:t>구조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/>
              <a:t>docker</a:t>
            </a:r>
            <a:r>
              <a:rPr lang="en-US" sz="3200" b="1" dirty="0"/>
              <a:t> [Management Command] Command [</a:t>
            </a:r>
            <a:r>
              <a:rPr lang="ko-KR" altLang="en-US" sz="3200" b="1" dirty="0"/>
              <a:t>옵션</a:t>
            </a:r>
            <a:r>
              <a:rPr lang="en-US" altLang="ko-KR" sz="3200" b="1" dirty="0"/>
              <a:t>] [</a:t>
            </a:r>
            <a:r>
              <a:rPr lang="ko-KR" altLang="en-US" sz="3200" b="1" dirty="0"/>
              <a:t>인자</a:t>
            </a:r>
            <a:r>
              <a:rPr lang="en-US" altLang="ko-KR" sz="3200" b="1" dirty="0"/>
              <a:t>]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Management </a:t>
            </a:r>
            <a:r>
              <a:rPr lang="en-US" dirty="0"/>
              <a:t>Command</a:t>
            </a:r>
            <a:r>
              <a:rPr lang="ko-KR" altLang="en-US" dirty="0"/>
              <a:t>는 종종 생략됩니다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  <a:r>
              <a:rPr lang="en-US" dirty="0" err="1"/>
              <a:t>docker</a:t>
            </a:r>
            <a:r>
              <a:rPr lang="en-US" dirty="0"/>
              <a:t> container run → </a:t>
            </a:r>
            <a:r>
              <a:rPr lang="en-US" dirty="0" err="1"/>
              <a:t>docker</a:t>
            </a:r>
            <a:r>
              <a:rPr lang="en-US" dirty="0"/>
              <a:t> run</a:t>
            </a:r>
          </a:p>
        </p:txBody>
      </p:sp>
    </p:spTree>
    <p:extLst>
      <p:ext uri="{BB962C8B-B14F-4D97-AF65-F5344CB8AC3E}">
        <p14:creationId xmlns:p14="http://schemas.microsoft.com/office/powerpoint/2010/main" val="2414575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컨테이너 </a:t>
            </a:r>
            <a:r>
              <a:rPr lang="ko-KR" altLang="en-US" dirty="0" smtClean="0"/>
              <a:t>관리</a:t>
            </a:r>
            <a:endParaRPr 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792469"/>
              </p:ext>
            </p:extLst>
          </p:nvPr>
        </p:nvGraphicFramePr>
        <p:xfrm>
          <a:off x="664464" y="1382662"/>
          <a:ext cx="10515600" cy="219456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199362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15617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800" kern="1200" dirty="0"/>
                        <a:t>명령어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800" kern="1200" dirty="0"/>
                        <a:t>설명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4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800" kern="1200" dirty="0" err="1"/>
                        <a:t>docker</a:t>
                      </a:r>
                      <a:r>
                        <a:rPr lang="en-US" altLang="ko-KR" sz="1800" kern="1200" dirty="0"/>
                        <a:t> run [</a:t>
                      </a:r>
                      <a:r>
                        <a:rPr lang="ko-KR" altLang="en-US" sz="1800" kern="1200" dirty="0"/>
                        <a:t>옵션</a:t>
                      </a:r>
                      <a:r>
                        <a:rPr lang="en-US" altLang="ko-KR" sz="1800" kern="1200" dirty="0"/>
                        <a:t>] &lt;</a:t>
                      </a:r>
                      <a:r>
                        <a:rPr lang="ko-KR" altLang="en-US" sz="1800" kern="1200" dirty="0" err="1"/>
                        <a:t>이미지명</a:t>
                      </a:r>
                      <a:r>
                        <a:rPr lang="en-US" altLang="ko-KR" sz="1800" kern="1200" dirty="0"/>
                        <a:t>&gt;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ko-KR" altLang="en-US" sz="1800" kern="1200"/>
                        <a:t>새 컨테이너 생성 및 실행</a:t>
                      </a:r>
                      <a:endParaRPr lang="ko-KR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013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800" kern="1200" dirty="0" err="1"/>
                        <a:t>docker</a:t>
                      </a:r>
                      <a:r>
                        <a:rPr lang="en-US" altLang="ko-KR" sz="1800" kern="1200" dirty="0"/>
                        <a:t> run -d --name &lt;</a:t>
                      </a:r>
                      <a:r>
                        <a:rPr lang="ko-KR" altLang="en-US" sz="1800" kern="1200" dirty="0" err="1"/>
                        <a:t>컨테이너명</a:t>
                      </a:r>
                      <a:r>
                        <a:rPr lang="en-US" altLang="ko-KR" sz="1800" kern="1200" dirty="0"/>
                        <a:t>&gt; &lt;</a:t>
                      </a:r>
                      <a:r>
                        <a:rPr lang="ko-KR" altLang="en-US" sz="1800" kern="1200" dirty="0" err="1"/>
                        <a:t>이미지명</a:t>
                      </a:r>
                      <a:r>
                        <a:rPr lang="en-US" altLang="ko-KR" sz="1800" kern="1200" dirty="0"/>
                        <a:t>&gt;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ko-KR" altLang="en-US" sz="1800" kern="1200"/>
                        <a:t>백그라운드에서 이름을 지정하여 컨테이너 실행</a:t>
                      </a:r>
                      <a:endParaRPr lang="ko-KR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786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docker</a:t>
                      </a:r>
                      <a:r>
                        <a:rPr lang="en-US" sz="1800" kern="1200" dirty="0"/>
                        <a:t> start &lt;</a:t>
                      </a:r>
                      <a:r>
                        <a:rPr lang="ko-KR" altLang="en-US" sz="1800" kern="1200" dirty="0" err="1"/>
                        <a:t>컨테이너명</a:t>
                      </a:r>
                      <a:r>
                        <a:rPr lang="en-US" altLang="ko-KR" sz="1800" kern="1200" dirty="0"/>
                        <a:t>&gt;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ko-KR" altLang="en-US" sz="1800" kern="1200"/>
                        <a:t>중지된 컨테이너 시작</a:t>
                      </a:r>
                      <a:endParaRPr lang="ko-KR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53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/>
                        <a:t>docker run --env KEY=VALUE &lt;</a:t>
                      </a:r>
                      <a:r>
                        <a:rPr lang="ko-KR" altLang="en-US" sz="1800" kern="1200"/>
                        <a:t>이미지명</a:t>
                      </a:r>
                      <a:r>
                        <a:rPr lang="en-US" altLang="ko-KR" sz="1800" kern="1200"/>
                        <a:t>&gt;</a:t>
                      </a:r>
                      <a:endParaRPr lang="en-US" altLang="ko-KR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ko-KR" altLang="en-US" sz="1800" kern="1200"/>
                        <a:t>환경 변수를 설정하여 컨테이너 실행</a:t>
                      </a:r>
                      <a:endParaRPr lang="ko-KR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953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/>
                        <a:t>docker</a:t>
                      </a:r>
                      <a:r>
                        <a:rPr lang="en-US" sz="1800" kern="1200" dirty="0"/>
                        <a:t> run &lt;</a:t>
                      </a:r>
                      <a:r>
                        <a:rPr lang="ko-KR" altLang="en-US" sz="1800" kern="1200" dirty="0" err="1"/>
                        <a:t>이미지명</a:t>
                      </a:r>
                      <a:r>
                        <a:rPr lang="en-US" altLang="ko-KR" sz="1800" kern="1200" dirty="0"/>
                        <a:t>&gt; &lt;</a:t>
                      </a:r>
                      <a:r>
                        <a:rPr lang="en-US" sz="1800" kern="1200" dirty="0"/>
                        <a:t>CMD&gt;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ko-KR" altLang="en-US" sz="1800" kern="1200" dirty="0"/>
                        <a:t>기본 </a:t>
                      </a:r>
                      <a:r>
                        <a:rPr lang="en-US" altLang="ko-KR" sz="1800" kern="1200" dirty="0"/>
                        <a:t>CMD</a:t>
                      </a:r>
                      <a:r>
                        <a:rPr lang="ko-KR" altLang="en-US" sz="1800" kern="1200" dirty="0"/>
                        <a:t>를 </a:t>
                      </a:r>
                      <a:r>
                        <a:rPr lang="ko-KR" altLang="en-US" sz="1800" kern="1200" dirty="0" err="1"/>
                        <a:t>오버라이드하여</a:t>
                      </a:r>
                      <a:r>
                        <a:rPr lang="ko-KR" altLang="en-US" sz="1800" kern="1200" dirty="0"/>
                        <a:t> 컨테이너 실행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0777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0144" y="4241075"/>
            <a:ext cx="145389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/>
              <a:t>조회</a:t>
            </a:r>
            <a:endParaRPr 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157359"/>
              </p:ext>
            </p:extLst>
          </p:nvPr>
        </p:nvGraphicFramePr>
        <p:xfrm>
          <a:off x="664464" y="5107718"/>
          <a:ext cx="10515600" cy="109728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4044696">
                  <a:extLst>
                    <a:ext uri="{9D8B030D-6E8A-4147-A177-3AD203B41FA5}">
                      <a16:colId xmlns:a16="http://schemas.microsoft.com/office/drawing/2014/main" val="417255881"/>
                    </a:ext>
                  </a:extLst>
                </a:gridCol>
                <a:gridCol w="6470904">
                  <a:extLst>
                    <a:ext uri="{9D8B030D-6E8A-4147-A177-3AD203B41FA5}">
                      <a16:colId xmlns:a16="http://schemas.microsoft.com/office/drawing/2014/main" val="3594741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kern="1200" dirty="0"/>
                        <a:t>명령어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18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kern="1200" dirty="0" err="1"/>
                        <a:t>docker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실행 중인 컨테이너 목록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151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ps</a:t>
                      </a:r>
                      <a:r>
                        <a:rPr lang="en-US" dirty="0"/>
                        <a:t> -a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모든 컨테이너 목록 표시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중지된 컨테이너 포함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24628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0144" y="833853"/>
            <a:ext cx="145389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/>
              <a:t>실행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49453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305105"/>
              </p:ext>
            </p:extLst>
          </p:nvPr>
        </p:nvGraphicFramePr>
        <p:xfrm>
          <a:off x="838200" y="1057275"/>
          <a:ext cx="10515600" cy="190538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537691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56989222"/>
                    </a:ext>
                  </a:extLst>
                </a:gridCol>
              </a:tblGrid>
              <a:tr h="476345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명령어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22373"/>
                  </a:ext>
                </a:extLst>
              </a:tr>
              <a:tr h="476345">
                <a:tc>
                  <a:txBody>
                    <a:bodyPr/>
                    <a:lstStyle/>
                    <a:p>
                      <a:r>
                        <a:rPr lang="en-US"/>
                        <a:t>docker stop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실행 중인 컨테이너 중지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332781"/>
                  </a:ext>
                </a:extLst>
              </a:tr>
              <a:tr h="476345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rm</a:t>
                      </a:r>
                      <a:r>
                        <a:rPr lang="en-US" dirty="0"/>
                        <a:t> &lt;</a:t>
                      </a:r>
                      <a:r>
                        <a:rPr lang="ko-KR" altLang="en-US" dirty="0" err="1"/>
                        <a:t>컨테이너명</a:t>
                      </a:r>
                      <a:r>
                        <a:rPr lang="en-US" altLang="ko-KR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중지된 컨테이너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852747"/>
                  </a:ext>
                </a:extLst>
              </a:tr>
              <a:tr h="476345">
                <a:tc>
                  <a:txBody>
                    <a:bodyPr/>
                    <a:lstStyle/>
                    <a:p>
                      <a:r>
                        <a:rPr lang="en-US"/>
                        <a:t>docker rm -f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실행 중인 컨테이너 강제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587693"/>
                  </a:ext>
                </a:extLst>
              </a:tr>
            </a:tbl>
          </a:graphicData>
        </a:graphic>
      </p:graphicFrame>
      <p:sp>
        <p:nvSpPr>
          <p:cNvPr id="5" name="Rectangle 1">
            <a:hlinkClick r:id="rId2"/>
          </p:cNvPr>
          <p:cNvSpPr>
            <a:spLocks noChangeArrowheads="1"/>
          </p:cNvSpPr>
          <p:nvPr/>
        </p:nvSpPr>
        <p:spPr bwMode="auto">
          <a:xfrm>
            <a:off x="-91440" y="-13258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463987"/>
            <a:ext cx="1572768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/>
              <a:t>중지 및 삭제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2876" y="3758184"/>
            <a:ext cx="10366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</a:p>
          <a:p>
            <a:endParaRPr lang="en-US" altLang="ko-KR" dirty="0" smtClean="0"/>
          </a:p>
          <a:p>
            <a:r>
              <a:rPr lang="ko-KR" altLang="en-US" dirty="0"/>
              <a:t>여러 컨테이너 동시 삭제</a:t>
            </a:r>
            <a:r>
              <a:rPr lang="en-US" altLang="ko-KR" dirty="0"/>
              <a:t>: </a:t>
            </a:r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en-US" dirty="0" err="1"/>
              <a:t>rm</a:t>
            </a:r>
            <a:r>
              <a:rPr lang="en-US" dirty="0"/>
              <a:t> -f container1 container2 </a:t>
            </a:r>
            <a:r>
              <a:rPr lang="en-US" dirty="0" smtClean="0"/>
              <a:t>container3</a:t>
            </a:r>
          </a:p>
          <a:p>
            <a:endParaRPr lang="en-US" dirty="0"/>
          </a:p>
          <a:p>
            <a:r>
              <a:rPr lang="ko-KR" altLang="en-US" dirty="0" smtClean="0"/>
              <a:t>모든 </a:t>
            </a:r>
            <a:r>
              <a:rPr lang="en-US" dirty="0"/>
              <a:t>Docker </a:t>
            </a:r>
            <a:r>
              <a:rPr lang="ko-KR" altLang="en-US" dirty="0"/>
              <a:t>컨테이너 삭제</a:t>
            </a:r>
            <a:r>
              <a:rPr lang="en-US" altLang="ko-KR" dirty="0"/>
              <a:t>: </a:t>
            </a:r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en-US" dirty="0" err="1"/>
              <a:t>rm</a:t>
            </a:r>
            <a:r>
              <a:rPr lang="en-US" dirty="0"/>
              <a:t> -f $(</a:t>
            </a:r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en-US" dirty="0" err="1"/>
              <a:t>ps</a:t>
            </a:r>
            <a:r>
              <a:rPr lang="en-US" dirty="0"/>
              <a:t> -</a:t>
            </a:r>
            <a:r>
              <a:rPr lang="en-US" dirty="0" err="1"/>
              <a:t>aq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069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2000405"/>
              </p:ext>
            </p:extLst>
          </p:nvPr>
        </p:nvGraphicFramePr>
        <p:xfrm>
          <a:off x="838200" y="1057274"/>
          <a:ext cx="10515600" cy="2054205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4383024">
                  <a:extLst>
                    <a:ext uri="{9D8B030D-6E8A-4147-A177-3AD203B41FA5}">
                      <a16:colId xmlns:a16="http://schemas.microsoft.com/office/drawing/2014/main" val="2956730005"/>
                    </a:ext>
                  </a:extLst>
                </a:gridCol>
                <a:gridCol w="6132576">
                  <a:extLst>
                    <a:ext uri="{9D8B030D-6E8A-4147-A177-3AD203B41FA5}">
                      <a16:colId xmlns:a16="http://schemas.microsoft.com/office/drawing/2014/main" val="3300833386"/>
                    </a:ext>
                  </a:extLst>
                </a:gridCol>
              </a:tblGrid>
              <a:tr h="410841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명령어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981361"/>
                  </a:ext>
                </a:extLst>
              </a:tr>
              <a:tr h="410841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image 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모든 이미지 목록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233724"/>
                  </a:ext>
                </a:extLst>
              </a:tr>
              <a:tr h="410841">
                <a:tc>
                  <a:txBody>
                    <a:bodyPr/>
                    <a:lstStyle/>
                    <a:p>
                      <a:r>
                        <a:rPr lang="en-US"/>
                        <a:t>docker image ls &lt;</a:t>
                      </a:r>
                      <a:r>
                        <a:rPr lang="ko-KR" altLang="en-US"/>
                        <a:t>이미지명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특정 이미지 정보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190973"/>
                  </a:ext>
                </a:extLst>
              </a:tr>
              <a:tr h="410841">
                <a:tc>
                  <a:txBody>
                    <a:bodyPr/>
                    <a:lstStyle/>
                    <a:p>
                      <a:r>
                        <a:rPr lang="en-US"/>
                        <a:t>docker pull &lt;</a:t>
                      </a:r>
                      <a:r>
                        <a:rPr lang="ko-KR" altLang="en-US"/>
                        <a:t>이미지명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Docker Hub</a:t>
                      </a:r>
                      <a:r>
                        <a:rPr lang="ko-KR" altLang="en-US"/>
                        <a:t>에서 이미지 다운로드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019878"/>
                  </a:ext>
                </a:extLst>
              </a:tr>
              <a:tr h="410841">
                <a:tc>
                  <a:txBody>
                    <a:bodyPr/>
                    <a:lstStyle/>
                    <a:p>
                      <a:r>
                        <a:rPr lang="en-US"/>
                        <a:t>docker rmi &lt;</a:t>
                      </a:r>
                      <a:r>
                        <a:rPr lang="ko-KR" altLang="en-US"/>
                        <a:t>이미지명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이미지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378343"/>
                  </a:ext>
                </a:extLst>
              </a:tr>
            </a:tbl>
          </a:graphicData>
        </a:graphic>
      </p:graphicFrame>
      <p:sp>
        <p:nvSpPr>
          <p:cNvPr id="5" name="Rectangle 1">
            <a:hlinkClick r:id="rId2"/>
          </p:cNvPr>
          <p:cNvSpPr>
            <a:spLocks noChangeArrowheads="1"/>
          </p:cNvSpPr>
          <p:nvPr/>
        </p:nvSpPr>
        <p:spPr bwMode="auto">
          <a:xfrm>
            <a:off x="-228600" y="-13533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490918"/>
            <a:ext cx="213969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/>
              <a:t>이미지 관리</a:t>
            </a:r>
            <a:endParaRPr 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609552"/>
              </p:ext>
            </p:extLst>
          </p:nvPr>
        </p:nvGraphicFramePr>
        <p:xfrm>
          <a:off x="609600" y="4279296"/>
          <a:ext cx="10515600" cy="203921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818632">
                  <a:extLst>
                    <a:ext uri="{9D8B030D-6E8A-4147-A177-3AD203B41FA5}">
                      <a16:colId xmlns:a16="http://schemas.microsoft.com/office/drawing/2014/main" val="1459136570"/>
                    </a:ext>
                  </a:extLst>
                </a:gridCol>
                <a:gridCol w="4696968">
                  <a:extLst>
                    <a:ext uri="{9D8B030D-6E8A-4147-A177-3AD203B41FA5}">
                      <a16:colId xmlns:a16="http://schemas.microsoft.com/office/drawing/2014/main" val="1438357649"/>
                    </a:ext>
                  </a:extLst>
                </a:gridCol>
              </a:tblGrid>
              <a:tr h="407842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명령어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464291"/>
                  </a:ext>
                </a:extLst>
              </a:tr>
              <a:tr h="407842">
                <a:tc>
                  <a:txBody>
                    <a:bodyPr/>
                    <a:lstStyle/>
                    <a:p>
                      <a:r>
                        <a:rPr lang="en-US"/>
                        <a:t>docker network 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도커 네트워크 목록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511348"/>
                  </a:ext>
                </a:extLst>
              </a:tr>
              <a:tr h="407842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network create &lt;</a:t>
                      </a:r>
                      <a:r>
                        <a:rPr lang="ko-KR" altLang="en-US" dirty="0" err="1"/>
                        <a:t>네트워크명</a:t>
                      </a:r>
                      <a:r>
                        <a:rPr lang="en-US" altLang="ko-KR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새 도커 네트워크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540846"/>
                  </a:ext>
                </a:extLst>
              </a:tr>
              <a:tr h="407842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docker</a:t>
                      </a:r>
                      <a:r>
                        <a:rPr lang="en-US" altLang="ko-KR" dirty="0"/>
                        <a:t> network connect &lt;</a:t>
                      </a:r>
                      <a:r>
                        <a:rPr lang="ko-KR" altLang="en-US" dirty="0" err="1"/>
                        <a:t>네트워크명</a:t>
                      </a:r>
                      <a:r>
                        <a:rPr lang="en-US" altLang="ko-KR" dirty="0"/>
                        <a:t>&gt; &lt;</a:t>
                      </a:r>
                      <a:r>
                        <a:rPr lang="ko-KR" altLang="en-US" dirty="0" err="1"/>
                        <a:t>컨테이너명</a:t>
                      </a:r>
                      <a:r>
                        <a:rPr lang="en-US" altLang="ko-KR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컨테이너를 네트워크에 연결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472826"/>
                  </a:ext>
                </a:extLst>
              </a:tr>
              <a:tr h="407842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network disconnect &lt;</a:t>
                      </a:r>
                      <a:r>
                        <a:rPr lang="ko-KR" altLang="en-US" dirty="0" err="1"/>
                        <a:t>네트워크명</a:t>
                      </a:r>
                      <a:r>
                        <a:rPr lang="en-US" altLang="ko-KR" dirty="0"/>
                        <a:t>&gt; &lt;</a:t>
                      </a:r>
                      <a:r>
                        <a:rPr lang="ko-KR" altLang="en-US" dirty="0" err="1"/>
                        <a:t>컨테이너명</a:t>
                      </a:r>
                      <a:r>
                        <a:rPr lang="en-US" altLang="ko-KR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컨테이너를 네트워크에서 분리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801981"/>
                  </a:ext>
                </a:extLst>
              </a:tr>
            </a:tbl>
          </a:graphicData>
        </a:graphic>
      </p:graphicFrame>
      <p:sp>
        <p:nvSpPr>
          <p:cNvPr id="8" name="Rectangle 2">
            <a:hlinkClick r:id="rId2"/>
          </p:cNvPr>
          <p:cNvSpPr>
            <a:spLocks noChangeArrowheads="1"/>
          </p:cNvSpPr>
          <p:nvPr/>
        </p:nvSpPr>
        <p:spPr bwMode="auto">
          <a:xfrm>
            <a:off x="609600" y="298594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9600" y="3666170"/>
            <a:ext cx="235305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/>
              <a:t>네트워크 관리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19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8306809"/>
              </p:ext>
            </p:extLst>
          </p:nvPr>
        </p:nvGraphicFramePr>
        <p:xfrm>
          <a:off x="512064" y="1066070"/>
          <a:ext cx="10515600" cy="146304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745655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23024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명령어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875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volume 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도커 볼륨 목록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652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docker</a:t>
                      </a:r>
                      <a:r>
                        <a:rPr lang="en-US" dirty="0"/>
                        <a:t> volume create &lt;</a:t>
                      </a:r>
                      <a:r>
                        <a:rPr lang="ko-KR" altLang="en-US" dirty="0" err="1"/>
                        <a:t>볼륨명</a:t>
                      </a:r>
                      <a:r>
                        <a:rPr lang="en-US" altLang="ko-KR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새 도커 볼륨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087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volume rm &lt;</a:t>
                      </a:r>
                      <a:r>
                        <a:rPr lang="ko-KR" altLang="en-US"/>
                        <a:t>볼륨명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도커</a:t>
                      </a:r>
                      <a:r>
                        <a:rPr lang="ko-KR" altLang="en-US" dirty="0"/>
                        <a:t> 볼륨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01816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2064" y="457200"/>
            <a:ext cx="140817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 err="1"/>
              <a:t>볼륨관리</a:t>
            </a:r>
            <a:endParaRPr 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08622"/>
              </p:ext>
            </p:extLst>
          </p:nvPr>
        </p:nvGraphicFramePr>
        <p:xfrm>
          <a:off x="512064" y="3708686"/>
          <a:ext cx="10515600" cy="256032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242827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94197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명령어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522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logs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지정한 컨테이너의 로그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547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logs -f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실시간 로그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277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logs --tail &lt;n&gt;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마지막 </a:t>
                      </a:r>
                      <a:r>
                        <a:rPr lang="en-US" altLang="ko-KR"/>
                        <a:t>n</a:t>
                      </a:r>
                      <a:r>
                        <a:rPr lang="ko-KR" altLang="en-US"/>
                        <a:t>개의 로그 라인만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250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logs --since &lt;</a:t>
                      </a:r>
                      <a:r>
                        <a:rPr lang="ko-KR" altLang="en-US"/>
                        <a:t>시간</a:t>
                      </a:r>
                      <a:r>
                        <a:rPr lang="en-US" altLang="ko-KR"/>
                        <a:t>&gt;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특정 시간 이후의 로그만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09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logs --until &lt;</a:t>
                      </a:r>
                      <a:r>
                        <a:rPr lang="ko-KR" altLang="en-US"/>
                        <a:t>시간</a:t>
                      </a:r>
                      <a:r>
                        <a:rPr lang="en-US" altLang="ko-KR"/>
                        <a:t>&gt;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특정 시간 이전의 로그만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17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logs --timestamps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로그와 타임스탬프 함께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25606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2064" y="3118104"/>
            <a:ext cx="217627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/>
              <a:t>로그 확인 명령어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797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208722"/>
              </p:ext>
            </p:extLst>
          </p:nvPr>
        </p:nvGraphicFramePr>
        <p:xfrm>
          <a:off x="740664" y="993267"/>
          <a:ext cx="10515600" cy="210312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354155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7986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명령어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89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logs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컨테이너 로그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545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docker</a:t>
                      </a:r>
                      <a:r>
                        <a:rPr lang="en-US" altLang="ko-KR" dirty="0"/>
                        <a:t> exec -it &lt;</a:t>
                      </a:r>
                      <a:r>
                        <a:rPr lang="ko-KR" altLang="en-US" dirty="0" err="1"/>
                        <a:t>컨테이너명</a:t>
                      </a:r>
                      <a:r>
                        <a:rPr lang="en-US" altLang="ko-KR" dirty="0"/>
                        <a:t>&gt; &lt;</a:t>
                      </a:r>
                      <a:r>
                        <a:rPr lang="ko-KR" altLang="en-US" dirty="0"/>
                        <a:t>명령어</a:t>
                      </a:r>
                      <a:r>
                        <a:rPr lang="en-US" altLang="ko-KR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실행 중인 컨테이너에 명령어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77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docker</a:t>
                      </a:r>
                      <a:r>
                        <a:rPr lang="en-US" altLang="ko-KR" dirty="0"/>
                        <a:t> </a:t>
                      </a:r>
                      <a:r>
                        <a:rPr lang="en-US" altLang="ko-KR" dirty="0" err="1"/>
                        <a:t>cp</a:t>
                      </a:r>
                      <a:r>
                        <a:rPr lang="en-US" altLang="ko-KR" dirty="0"/>
                        <a:t> &lt;</a:t>
                      </a:r>
                      <a:r>
                        <a:rPr lang="ko-KR" altLang="en-US" dirty="0" err="1"/>
                        <a:t>컨테이너명</a:t>
                      </a:r>
                      <a:r>
                        <a:rPr lang="en-US" altLang="ko-KR" dirty="0"/>
                        <a:t>&gt;:&lt;</a:t>
                      </a:r>
                      <a:r>
                        <a:rPr lang="ko-KR" altLang="en-US" dirty="0"/>
                        <a:t>컨테이너 내 경로</a:t>
                      </a:r>
                      <a:r>
                        <a:rPr lang="en-US" altLang="ko-KR" dirty="0"/>
                        <a:t>&gt; &lt;</a:t>
                      </a:r>
                      <a:r>
                        <a:rPr lang="ko-KR" altLang="en-US" dirty="0"/>
                        <a:t>호스트 경로</a:t>
                      </a:r>
                      <a:r>
                        <a:rPr lang="en-US" altLang="ko-KR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컨테이너에서 호스트로 파일 복사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25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docker inspect &lt;</a:t>
                      </a:r>
                      <a:r>
                        <a:rPr lang="ko-KR" altLang="en-US"/>
                        <a:t>컨테이너명</a:t>
                      </a:r>
                      <a:r>
                        <a:rPr lang="en-US" altLang="ko-KR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컨테이너의 상세 정보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50152"/>
                  </a:ext>
                </a:extLst>
              </a:tr>
            </a:tbl>
          </a:graphicData>
        </a:graphic>
      </p:graphicFrame>
      <p:sp>
        <p:nvSpPr>
          <p:cNvPr id="5" name="Rectangle 1">
            <a:hlinkClick r:id="rId2"/>
          </p:cNvPr>
          <p:cNvSpPr>
            <a:spLocks noChangeArrowheads="1"/>
          </p:cNvSpPr>
          <p:nvPr/>
        </p:nvSpPr>
        <p:spPr bwMode="auto">
          <a:xfrm>
            <a:off x="-320040" y="-221284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6656" y="262819"/>
            <a:ext cx="268833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/>
              <a:t>기타 유용한 명령어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0664" y="3739896"/>
            <a:ext cx="9226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대부분의 </a:t>
            </a:r>
            <a:r>
              <a:rPr lang="en-US" altLang="ko-KR" dirty="0"/>
              <a:t>Docker </a:t>
            </a:r>
            <a:r>
              <a:rPr lang="ko-KR" altLang="en-US" dirty="0"/>
              <a:t>명령어는 컨테이너 </a:t>
            </a:r>
            <a:r>
              <a:rPr lang="en-US" altLang="ko-KR" dirty="0"/>
              <a:t>ID </a:t>
            </a:r>
            <a:r>
              <a:rPr lang="ko-KR" altLang="en-US" dirty="0"/>
              <a:t>대신 컨테이너 이름을 사용할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 err="1" smtClean="0"/>
              <a:t>docker</a:t>
            </a:r>
            <a:r>
              <a:rPr lang="en-US" altLang="ko-KR" dirty="0" smtClean="0"/>
              <a:t> </a:t>
            </a:r>
            <a:r>
              <a:rPr lang="en-US" altLang="ko-KR" dirty="0"/>
              <a:t>run </a:t>
            </a:r>
            <a:r>
              <a:rPr lang="ko-KR" altLang="en-US" dirty="0"/>
              <a:t>명령어는 이미지가 로컬에 없으면 자동으로 </a:t>
            </a:r>
            <a:r>
              <a:rPr lang="en-US" altLang="ko-KR" dirty="0"/>
              <a:t>pull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 smtClean="0"/>
              <a:t>컨테이너 </a:t>
            </a:r>
            <a:r>
              <a:rPr lang="ko-KR" altLang="en-US" dirty="0"/>
              <a:t>이름을 지정하지 않으면 </a:t>
            </a:r>
            <a:r>
              <a:rPr lang="en-US" altLang="ko-KR" dirty="0"/>
              <a:t>Docker</a:t>
            </a:r>
            <a:r>
              <a:rPr lang="ko-KR" altLang="en-US" dirty="0"/>
              <a:t>가 자동으로 임의의 이름을 할당합니다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087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컨테이너 라이프 사이클</a:t>
            </a:r>
            <a:endParaRPr lang="en-US" dirty="0"/>
          </a:p>
        </p:txBody>
      </p:sp>
      <p:pic>
        <p:nvPicPr>
          <p:cNvPr id="4" name="내용 개체 틀 3" descr="화면 캡처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0" y="896471"/>
            <a:ext cx="5904738" cy="5874144"/>
          </a:xfrm>
        </p:spPr>
      </p:pic>
    </p:spTree>
    <p:extLst>
      <p:ext uri="{BB962C8B-B14F-4D97-AF65-F5344CB8AC3E}">
        <p14:creationId xmlns:p14="http://schemas.microsoft.com/office/powerpoint/2010/main" val="87316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536339"/>
              </p:ext>
            </p:extLst>
          </p:nvPr>
        </p:nvGraphicFramePr>
        <p:xfrm>
          <a:off x="838200" y="237744"/>
          <a:ext cx="10515600" cy="6473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969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869</Words>
  <Application>Microsoft Office PowerPoint</Application>
  <PresentationFormat>와이드스크린</PresentationFormat>
  <Paragraphs>185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Arial</vt:lpstr>
      <vt:lpstr>Arial Black</vt:lpstr>
      <vt:lpstr>Calibri</vt:lpstr>
      <vt:lpstr>Calibri Light</vt:lpstr>
      <vt:lpstr>Office 테마</vt:lpstr>
      <vt:lpstr>도커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도커(Docker)란?</vt:lpstr>
      <vt:lpstr>도커의 핵심 개념</vt:lpstr>
      <vt:lpstr>도커 설치</vt:lpstr>
      <vt:lpstr>기본 명령어</vt:lpstr>
      <vt:lpstr>기본 정보 확인</vt:lpstr>
      <vt:lpstr>Docker 명령어 기본 구조</vt:lpstr>
      <vt:lpstr>컨테이너 관리</vt:lpstr>
      <vt:lpstr>PowerPoint 프레젠테이션</vt:lpstr>
      <vt:lpstr>PowerPoint 프레젠테이션</vt:lpstr>
      <vt:lpstr>PowerPoint 프레젠테이션</vt:lpstr>
      <vt:lpstr>PowerPoint 프레젠테이션</vt:lpstr>
      <vt:lpstr>컨테이너 라이프 사이클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도커</dc:title>
  <dc:creator>wjh_note</dc:creator>
  <cp:lastModifiedBy>wjh_note</cp:lastModifiedBy>
  <cp:revision>9</cp:revision>
  <dcterms:created xsi:type="dcterms:W3CDTF">2025-10-27T01:54:19Z</dcterms:created>
  <dcterms:modified xsi:type="dcterms:W3CDTF">2025-11-04T13:53:44Z</dcterms:modified>
</cp:coreProperties>
</file>